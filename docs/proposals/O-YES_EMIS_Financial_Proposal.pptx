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Foundation</c:v>
                </c:pt>
              </c:strCache>
            </c:strRef>
          </c:tx>
          <c:spPr>
            <a:solidFill>
              <a:srgbClr val="0B3033"/>
            </a:solidFill>
            <a:effectLst/>
          </c:spPr>
          <c:invertIfNegative val="0"/>
          <c:dLbls>
            <c:numFmt formatCode="#,##0,&quot;K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Package 1</c:v>
                  </c:pt>
                  <c:pt idx="1">
                    <c:v>Package 2</c:v>
                  </c:pt>
                  <c:pt idx="2">
                    <c:v>Package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185000</c:v>
                </c:pt>
                <c:pt idx="1">
                  <c:v>165000</c:v>
                </c:pt>
                <c:pt idx="2">
                  <c:v>100000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modules</c:v>
                </c:pt>
              </c:strCache>
            </c:strRef>
          </c:tx>
          <c:spPr>
            <a:solidFill>
              <a:srgbClr val="1B8A7A"/>
            </a:solidFill>
            <a:effectLst/>
          </c:spPr>
          <c:invertIfNegative val="0"/>
          <c:dLbls>
            <c:numFmt formatCode="#,##0,&quot;K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Package 1</c:v>
                  </c:pt>
                  <c:pt idx="1">
                    <c:v>Package 2</c:v>
                  </c:pt>
                  <c:pt idx="2">
                    <c:v>Package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245000</c:v>
                </c:pt>
                <c:pt idx="1">
                  <c:v>245000</c:v>
                </c:pt>
                <c:pt idx="2">
                  <c:v>140000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Mobile app</c:v>
                </c:pt>
              </c:strCache>
            </c:strRef>
          </c:tx>
          <c:spPr>
            <a:solidFill>
              <a:srgbClr val="EFA43A"/>
            </a:solidFill>
            <a:effectLst/>
          </c:spPr>
          <c:invertIfNegative val="0"/>
          <c:dLbls>
            <c:numFmt formatCode="#,##0,&quot;K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Package 1</c:v>
                  </c:pt>
                  <c:pt idx="1">
                    <c:v>Package 2</c:v>
                  </c:pt>
                  <c:pt idx="2">
                    <c:v>Package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120000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Migration, testing &amp; training</c:v>
                </c:pt>
              </c:strCache>
            </c:strRef>
          </c:tx>
          <c:spPr>
            <a:solidFill>
              <a:srgbClr val="A8B5B6"/>
            </a:solidFill>
            <a:effectLst/>
          </c:spPr>
          <c:invertIfNegative val="0"/>
          <c:dLbls>
            <c:numFmt formatCode="#,##0,&quot;K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Package 1</c:v>
                  </c:pt>
                  <c:pt idx="1">
                    <c:v>Package 2</c:v>
                  </c:pt>
                  <c:pt idx="2">
                    <c:v>Package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50000</c:v>
                </c:pt>
                <c:pt idx="1">
                  <c:v>40000</c:v>
                </c:pt>
                <c:pt idx="2">
                  <c:v>20000</c:v>
                </c:pt>
              </c:numCache>
            </c:numRef>
          </c:val>
        </c:ser>
        <c:dLbls>
          <c:numFmt formatCode="#,##0,&quot;K&quot;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0"/>
        </c:scaling>
        <c:delete val="0"/>
        <c:axPos val="b"/>
        <c:majorGridlines>
          <c:spPr>
            <a:ln w="6350" cap="flat">
              <a:solidFill>
                <a:srgbClr val="DCE5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C2B2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at the last meeting O-YES confirmed the scope but asked for a lower entry price and a breakdown. This proposal keeps the full platform at the price already discussed, adds a web-only option, and a focused three-module starting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key idea: the shared foundation is why the price does not fall in proportion to the number of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Package 1 is the price already discussed. Package 2 removes the mobile app and offline sync (the single most complex component). Package 3 is the recommended starting point for O-YES's current budget: the three priority modules built on the full foundation, so they can be extended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chart to explain the discussion from last meeting: the dark foundation block exists in every package. Package 3 scales it down (fewer roles, master lists, workflows and KPIs) but cannot remove it. Projects, Finance and Procurement are also the three largest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items follow the modules in the discovery deck. Foundation lines are smaller in Package 3 because it has fewer roles, master lists, approval chains and KPIs, not because anything is skipped. Mobile is the largest single item: offline storage, encryption, sync, conflict handling and device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shaded rows are O-YES's stated priorities. The half-filled rows are the foundation, delivered in a lighter form in Package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these three modules are connected to each other exactly as in the full design: a purchase request draws on a grant's budget line, a payment updates budget vs actual, and project activities link to their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budget concern: O-YES commits only to Package 3 now, and upgrades when funding allows (for example when a new grant with an M&amp;E or systems budget line is secured) without paying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O-YES funds the system from a donor grant, milestone dates can follow the grant's disbursement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VAT treatment internally before sending. Annual support is optional and can be decided at go-live.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which package O-YES would like to take to its board or leadership, and agree a date for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PROPOSAL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O-YES Integrated EMIS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packages with a full price breakdown — so O-YES can start with what it needs now and grow into the complete platform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Global Foundation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solution proposal, 26 September 2026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Birr (ETB)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0" y="1325880"/>
            <a:ext cx="3246120" cy="1234440"/>
          </a:xfrm>
          <a:prstGeom prst="roundRect">
            <a:avLst>
              <a:gd name="adj" fmla="val 8889"/>
            </a:avLst>
          </a:prstGeom>
          <a:solidFill>
            <a:srgbClr val="0E5E56"/>
          </a:solidFill>
          <a:ln w="19050">
            <a:solidFill>
              <a:srgbClr val="2E6B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58200" y="1481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D3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709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Platform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0756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600,000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0" y="2788920"/>
            <a:ext cx="3246120" cy="1234440"/>
          </a:xfrm>
          <a:prstGeom prst="roundRect">
            <a:avLst>
              <a:gd name="adj" fmla="val 8889"/>
            </a:avLst>
          </a:prstGeom>
          <a:solidFill>
            <a:srgbClr val="0E5E56"/>
          </a:solidFill>
          <a:ln w="19050">
            <a:solidFill>
              <a:srgbClr val="1B8A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944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D3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58200" y="3172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Web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35387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450,000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4251960"/>
            <a:ext cx="3246120" cy="1234440"/>
          </a:xfrm>
          <a:prstGeom prst="roundRect">
            <a:avLst>
              <a:gd name="adj" fmla="val 8889"/>
            </a:avLst>
          </a:prstGeom>
          <a:solidFill>
            <a:srgbClr val="0E5E56"/>
          </a:solidFill>
          <a:ln w="19050">
            <a:solidFill>
              <a:srgbClr val="EFA4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44074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46360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Operations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50017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260,000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WHERE WE 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heard, and how we have responded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is agreed; the question is how to phase the investment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520440" cy="4251960"/>
          </a:xfrm>
          <a:prstGeom prst="roundRect">
            <a:avLst>
              <a:gd name="adj" fmla="val 2597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48840"/>
            <a:ext cx="640080" cy="640080"/>
          </a:xfrm>
          <a:prstGeom prst="ellipse">
            <a:avLst/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3088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told us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web + mobile platform at ETB 600,000 is above the budget available today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 like to see how the price is built up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immediate priorities are Projects &amp; MEAL, Finance &amp; Grants and Procurement &amp; Assets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1874520"/>
            <a:ext cx="3520440" cy="4251960"/>
          </a:xfrm>
          <a:prstGeom prst="roundRect">
            <a:avLst>
              <a:gd name="adj" fmla="val 2597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2148840"/>
            <a:ext cx="640080" cy="640080"/>
          </a:xfrm>
          <a:prstGeom prst="ellipse">
            <a:avLst/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230886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explained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38328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modules are connected: they share one database, one set of users and master data, and one approval engine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modules lowers the price, but not in direct proportion — the shared foundation is still needed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 the full system to a third of its modules does not cut the cost to a third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046720" y="1874520"/>
            <a:ext cx="3520440" cy="4251960"/>
          </a:xfrm>
          <a:prstGeom prst="roundRect">
            <a:avLst>
              <a:gd name="adj" fmla="val 2597"/>
            </a:avLst>
          </a:prstGeom>
          <a:solidFill>
            <a:srgbClr val="E4F2E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21040" y="214884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23088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2104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now propose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338328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packages, each fully priced line by line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 delivers your three priority modules on the same foundation as the full system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paid is credited when you upgrade — nothing is thrown away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PACKAGES 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start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technology, same foundation and same team — the difference is scope and platforms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520440" cy="43434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745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063240"/>
            <a:ext cx="3520440" cy="228600"/>
          </a:xfrm>
          <a:prstGeom prst="rect">
            <a:avLst/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Platform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15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600,000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447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47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connected modules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13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813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1788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78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Android app for field teams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445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544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executive dashboard (14 KPIs)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9103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9103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approval workflows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2760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migration of all registers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733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24 weeks</a:t>
            </a:r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 months free support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97680" y="1874520"/>
            <a:ext cx="3520440" cy="43434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97680" y="18745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3063240"/>
            <a:ext cx="3520440" cy="228600"/>
          </a:xfrm>
          <a:prstGeom prst="rect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Web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2715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450,000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3447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3447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connected modules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3813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3813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41788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4178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mobile app (field data entered on the web)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0" y="45445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846320" y="4544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executive dashboard (14 KPIs)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9103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846320" y="49103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approval workflows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0" y="52760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migration of all registers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5733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18 weeks</a:t>
            </a:r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 months free support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046720" y="1874520"/>
            <a:ext cx="3520440" cy="43434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25400">
            <a:solidFill>
              <a:srgbClr val="EFA4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046720" y="18745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0" y="3063240"/>
            <a:ext cx="3520440" cy="228600"/>
          </a:xfrm>
          <a:prstGeom prst="rect">
            <a:avLst/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2104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9646920" y="2057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TODAY’S BUDGET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32104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Operations</a:t>
            </a:r>
            <a:endParaRPr lang="en-US" sz="1900" dirty="0"/>
          </a:p>
        </p:txBody>
      </p:sp>
      <p:sp>
        <p:nvSpPr>
          <p:cNvPr id="51" name="Text 49"/>
          <p:cNvSpPr txBox="1"/>
          <p:nvPr/>
        </p:nvSpPr>
        <p:spPr>
          <a:xfrm>
            <a:off x="8321040" y="2715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260,000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8321040" y="3447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595360" y="3447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modules + foundation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321040" y="3813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3813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8321040" y="41788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4178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mobile app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8321040" y="45445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8595360" y="4544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dashboard: projects, finance, procurement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321040" y="49103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8595360" y="49103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purchase approvals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8321040" y="52760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859536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of the 3 modules' registers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8321040" y="5733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12 weeks</a:t>
            </a:r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 months free support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THE PRICE IS BUILT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price does not fall in proportion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package needs the same foundation; modules and the mobile app are added on top of 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828800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19385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245059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Package 1 is shared foundation, migration, testing and training — needed whatever the number of modules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35240" y="3310128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4198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10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9319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in Package 3 — yet they carry the heaviest logic: budgets, payments, approvals, procurement and MEAL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4791456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DF1DE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0" y="49011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5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41324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full price for Package 3, because the foundation is scaled down but not removed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THE PRICE IS BUILT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price breakdown (ETB)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can be discussed; totals update in the accompanying Excel calculator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1737360"/>
                <a:gridCol w="1737360"/>
                <a:gridCol w="1737360"/>
              </a:tblGrid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+ mobile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Web, all modules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Web, 3 modules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43A"/>
                    </a:solidFill>
                  </a:tcPr>
                </a:tc>
              </a:tr>
              <a:tr h="20574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(SHARED BY EVERY MODULE)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Discovery, requirements &amp; UI/UX design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platform: database, API, sign-in, users &amp; roles, audit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 &amp;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Workflow, approvals, alerts &amp; notifications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 &amp; reports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MODULES (WEB)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 &amp; 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&amp; Grants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&amp;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Beneficiary &amp; Accountability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Capital (HRIS)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Risk &amp; Compliance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Offline-first Android app, sync service &amp; field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data migration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Testing, deployment, training &amp;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package price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4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WHAT EACH PACKAGE INCLUDES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Module-by-module comparison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included   ◐ scaled to the three core modules   — not included (can be added later)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051560"/>
                <a:gridCol w="1051560"/>
                <a:gridCol w="1051560"/>
                <a:gridCol w="4663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 scope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 &amp; Settings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977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Projects, donors, staff list, locations, suppliers, categories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Workflow, Integration &amp;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977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and purchase approvals, alerts, audit trail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 &amp; Reports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977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Project, finance and procurement KPIs; Excel / PDF export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 &amp; MEAL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&amp; Grants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&amp; Assets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Beneficiary &amp; Accountability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Capital (HRIS)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Risk &amp; Compliance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 (offline field data collection)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WHAT EACH PACKAGE INCLUDES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 3 in detail — ETB 260,000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three priority modules, working together on day one, on a foundation built to take the rest later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96596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107692"/>
            <a:ext cx="283464" cy="28346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&amp; MEAL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register, objectives &amp; work 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Activities: planned vs actual dates, participants, cost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baseline, target, actual,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visits, evaluations, lessons, issues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6042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89020" y="196596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2107692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8902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&amp; Grants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58902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Donors, grants &amp; agreements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lines and transactions per project &amp; grant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requests with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&amp; liquidation; budget vs actual; donor report tracker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17220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00800" y="196596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2" y="210769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080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 &amp; Assets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plan, suppliers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requests with approval, quotations / tenders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&amp; goods received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register, assignment, maintenance; stock with low-stock alerts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98398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12580" y="1965960"/>
            <a:ext cx="566928" cy="566928"/>
          </a:xfrm>
          <a:prstGeom prst="ellipse">
            <a:avLst/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4312" y="210769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1258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(lite)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1258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roles &amp; permissions; audit log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for the three modules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purchase approval chains, email alerts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KPI dashboard, Excel / PDF export, Excel import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48640" y="548640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DF1DE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Package 3 (available as add-ons):  </a:t>
            </a:r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&amp; Accountability · HRIS (recruitment, leave, attendance) · Governance, Risk &amp; Compliance · Partnerships · full 14-KPI executive dashboard · mobile app. A basic staff list is kept so staff can be named as responsible persons, requesters and asset holders.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GROWING INTO THE FULL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small, upgrade without losing anything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birr paid is credited in full when O-YES moves up a package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291840" cy="2606040"/>
          </a:xfrm>
          <a:prstGeom prst="roundRect">
            <a:avLst>
              <a:gd name="adj" fmla="val 4211"/>
            </a:avLst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Operations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priority modules on the web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ETB 260,000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108960"/>
            <a:ext cx="320040" cy="3200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389120" y="2103120"/>
            <a:ext cx="3291840" cy="2606040"/>
          </a:xfrm>
          <a:prstGeom prst="roundRect">
            <a:avLst>
              <a:gd name="adj" fmla="val 4211"/>
            </a:avLst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ETB 190,000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Web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1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Beneficiary, HRIS, GRC, Partnerships and the full dashboard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ETB 450,000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108960"/>
            <a:ext cx="320040" cy="3200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229600" y="2103120"/>
            <a:ext cx="3291840" cy="2606040"/>
          </a:xfrm>
          <a:prstGeom prst="roundRect">
            <a:avLst>
              <a:gd name="adj" fmla="val 4211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50392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ETB 150,000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85039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5039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Platform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85039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1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offline mobile app for field teams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ETB 600,000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5143500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4300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rework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14300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 is built on the full design, so new modules plug into the same database, users and approvals.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389120" y="5029200"/>
            <a:ext cx="457200" cy="45720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5143500"/>
            <a:ext cx="228600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98348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 cost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498348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step by step costs the same as buying the bigger package, at the prices in this proposal.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8229600" y="5029200"/>
            <a:ext cx="457200" cy="45720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5143500"/>
            <a:ext cx="228600" cy="2286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823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window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882396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upgrade prices are held for 12 months from go-live of the first package.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TIMELINE &amp; PAYMENT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time and payment milestones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tied to visible progress, so O-YES only pays for work it has seen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61288"/>
                <a:gridCol w="1161288"/>
                <a:gridCol w="115214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signing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&amp; clickable prototype approved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acceptance testing passed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Go-live &amp; training complete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00100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delivery time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2860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 · Complete Platform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2578608"/>
            <a:ext cx="3611880" cy="329184"/>
          </a:xfrm>
          <a:prstGeom prst="roundRect">
            <a:avLst>
              <a:gd name="adj" fmla="val 16667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10728" y="257860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weeks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108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 · Complete Web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01000" y="3401568"/>
            <a:ext cx="2708910" cy="329184"/>
          </a:xfrm>
          <a:prstGeom prst="roundRect">
            <a:avLst>
              <a:gd name="adj" fmla="val 16667"/>
            </a:avLst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10728" y="3401568"/>
            <a:ext cx="25260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weeks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3931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 · Core Operations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01000" y="4224528"/>
            <a:ext cx="1805940" cy="329184"/>
          </a:xfrm>
          <a:prstGeom prst="roundRect">
            <a:avLst>
              <a:gd name="adj" fmla="val 16667"/>
            </a:avLst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10728" y="4224528"/>
            <a:ext cx="16230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weeks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800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Timelines start once requirements are confirmed and assume timely feedback, sample data and a named O-YES contact.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57200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E4F2E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64515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for cash flow: </a:t>
            </a:r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milestone split can be adjusted (for example 25% / 25% / 25% / 25% for Package 3), or aligned with donor disbursement dates if the system is funded from a grant.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TERMS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Included in every package, and what is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delivery standard applies whichever package O-YES chooses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61872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handover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61872" y="20939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training for admins and users, user guide, recorded sessions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14800" y="18288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9659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28032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months free support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28032" y="20939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and help after go-live at no extra cost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37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61872" y="3154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261872" y="34655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 O-YES's cloud or office server, domain and SSL configured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114800" y="32004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33375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828032" y="3154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34655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permissions, encrypted passwords, audit log, daily backups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709160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61872" y="45262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261872" y="48371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of existing Excel registers for the modules in the package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114800" y="45720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470916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828032" y="45262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4828032" y="48371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owns its data; source code handed over on final payment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7863840" y="1783080"/>
            <a:ext cx="3749040" cy="4434840"/>
          </a:xfrm>
          <a:prstGeom prst="roundRect">
            <a:avLst>
              <a:gd name="adj" fmla="val 2439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813816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included / paid separately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138160" y="237744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Hosting, domain and SMS fees — paid directly by O-YES to the provider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Phones, tablets or computers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annual support &amp; maintenance after the free period: about 10% of the package price per year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outside the agreed scope — quoted separately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external accounting software, if required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8138160" y="51663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Validity: </a:t>
            </a:r>
            <a:pPr indent="0" marL="0">
              <a:buNone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valid for 60 days from this proposal.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Tax: </a:t>
            </a:r>
            <a:pPr indent="0" marL="0">
              <a:buNone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treatment as stated in the final contract.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a starting package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640080" cy="640080"/>
          </a:xfrm>
          <a:prstGeom prst="ellipse">
            <a:avLst/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 package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1, 2 or 3 — or Package 3 now with a planned upgrade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51460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terms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Milestones, or dates aligned with grant disbursement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51460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the contract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timeline and support terms confirmed in writing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61120" y="251460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 off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workshop per module, then the clickable prototype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we look forward to building this with O-YES.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Abakas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O-YES EMIS Financial Proposal</dc:title>
  <dc:subject>PptxGenJS Presentation</dc:subject>
  <dc:creator>PptxGenJS</dc:creator>
  <cp:lastModifiedBy>PptxGenJS</cp:lastModifiedBy>
  <cp:revision>1</cp:revision>
  <dcterms:created xsi:type="dcterms:W3CDTF">2026-09-28T05:45:26Z</dcterms:created>
  <dcterms:modified xsi:type="dcterms:W3CDTF">2026-09-28T05:45:26Z</dcterms:modified>
</cp:coreProperties>
</file>