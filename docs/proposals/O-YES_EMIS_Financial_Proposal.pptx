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at the last meeting O-YES confirmed the scope but asked for a lower entry price and a breakdown. This proposal keeps the full platform at the price already discussed, adds a web-only option, and a focused three-module starting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Package 1 is the price already discussed. Package 2 removes the mobile app and offline sync (the single most complex component). Package 3 is the recommended starting point for O-YES's current budget: the three priority modules built on the full foundation, so they can be extended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shaded rows are O-YES's stated priorities. The half-filled rows are the foundation, delivered in a lighter form in Package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these three modules are connected to each other exactly as in the full design: a purchase request draws on a grant's budget line, a payment updates budget vs actual, and project activities link to their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budget concern: O-YES commits only to Package 3 now, and upgrades when funding allows (for example when a new grant with an M&amp;E or systems budget line is secured) without paying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payment terms for every package: 30% advance on signing, 70% on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VAT treatment internally before sending. Annual support is optional and can be decided at go-live.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which package O-YES would like to take to its board or leadership, and agree a date for the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PROPOSAL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O-YES Integrated EMIS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packages — so O-YES can start with what it needs now and grow into the complete platform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Global Foundation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solution proposal, 26 September 2026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Ethiopian Birr (ETB)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0" y="132588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2E6B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58200" y="1481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7099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0756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mobile · all modules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278892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1B8A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2944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D3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58200" y="3172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458200" y="35387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only · all modules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4251960"/>
            <a:ext cx="3246120" cy="1234440"/>
          </a:xfrm>
          <a:prstGeom prst="roundRect">
            <a:avLst>
              <a:gd name="adj" fmla="val 8889"/>
            </a:avLst>
          </a:prstGeom>
          <a:solidFill>
            <a:srgbClr val="0E5E56"/>
          </a:solidFill>
          <a:ln w="19050">
            <a:solidFill>
              <a:srgbClr val="EFA4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44074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46360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58200" y="50017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only · 3 core modules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PACKAGES AT A GLANCE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start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technology, same foundation and same team — the difference is scope and platforms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063240"/>
            <a:ext cx="3520440" cy="228600"/>
          </a:xfrm>
          <a:prstGeom prst="rect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600,000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connected modules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Android app for field teams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executive dashboard (14 KPIs)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approval workflows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migration of all registers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760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2.5 months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9768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29768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3063240"/>
            <a:ext cx="3520440" cy="228600"/>
          </a:xfrm>
          <a:prstGeom prst="rect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350,000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84632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connected modules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mobile app (field data entered on the web)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84632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executive dashboard (14 KPIs)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84632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approval workflows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484632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migration of all registers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0" y="5760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months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046720" y="1874520"/>
            <a:ext cx="3520440" cy="43434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25400">
            <a:solidFill>
              <a:srgbClr val="EFA4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046720" y="187452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46720" y="3063240"/>
            <a:ext cx="3520440" cy="228600"/>
          </a:xfrm>
          <a:prstGeom prst="rect">
            <a:avLst/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21040" y="2057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9646920" y="20574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TODAY’S BUDGET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32104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1900" dirty="0"/>
          </a:p>
        </p:txBody>
      </p:sp>
      <p:sp>
        <p:nvSpPr>
          <p:cNvPr id="51" name="Text 49"/>
          <p:cNvSpPr txBox="1"/>
          <p:nvPr/>
        </p:nvSpPr>
        <p:spPr>
          <a:xfrm>
            <a:off x="8321040" y="271576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ETB 250,000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8321040" y="3447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595360" y="34472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core modules + foundation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8321040" y="38130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8595360" y="3813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8321040" y="41788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8595360" y="4178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mobile app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8321040" y="45445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8595360" y="4544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dashboard: projects, finance, procurement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321040" y="49103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8595360" y="491032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purchase approvals</a:t>
            </a:r>
            <a:endParaRPr lang="en-US" sz="1250" dirty="0"/>
          </a:p>
        </p:txBody>
      </p:sp>
      <p:sp>
        <p:nvSpPr>
          <p:cNvPr id="62" name="Text 60"/>
          <p:cNvSpPr txBox="1"/>
          <p:nvPr/>
        </p:nvSpPr>
        <p:spPr>
          <a:xfrm>
            <a:off x="8321040" y="52760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595360" y="52760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of the 3 modules' registers</a:t>
            </a:r>
            <a:endParaRPr lang="en-US" sz="1250" dirty="0"/>
          </a:p>
        </p:txBody>
      </p:sp>
      <p:sp>
        <p:nvSpPr>
          <p:cNvPr id="64" name="Text 62"/>
          <p:cNvSpPr txBox="1"/>
          <p:nvPr/>
        </p:nvSpPr>
        <p:spPr>
          <a:xfrm>
            <a:off x="8321040" y="5760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1.5 months</a:t>
            </a:r>
            <a:pPr indent="0" marL="0">
              <a:buNone/>
            </a:pPr>
            <a:r>
              <a:rPr lang="en-US" sz="115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 months free support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EACH PACKAGE INCLUDES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Module-by-module comparison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included   ◐ scaled to the three core modules   — not included (can be added later)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1051560"/>
                <a:gridCol w="1051560"/>
                <a:gridCol w="1051560"/>
                <a:gridCol w="4663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 scope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 &amp; Settings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Projects, donors, staff list, locations, suppliers, categories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Workflow, Integration &amp;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and purchase approvals, alerts, audit trail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 &amp; Reports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977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Project, finance and procurement KPIs; Excel / PDF export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Projects &amp; MEAL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&amp; Grants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&amp; Assets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module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Beneficiary &amp; Accountability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Capital (HRIS)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Governance, Risk &amp; Compliance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Partnerships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 (offline field data collection)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A9A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E6E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 EACH PACKAGE INCLUDES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 3 in detail — ETB 250,000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priority modules, working together on day one, on a foundation built to take the rest later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107692"/>
            <a:ext cx="283464" cy="28346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&amp; MEAL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register, objectives &amp; work 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Activities: planned vs actual dates, participants, cost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baseline, target, actual,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visits, evaluations, lessons, issues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6042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8902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2107692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8902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&amp; Grants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58902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Donors, grants &amp; agreements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lines and transactions per project &amp; grant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requests with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&amp; liquidation; budget vs actual; donor report tracker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17220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0" y="1965960"/>
            <a:ext cx="566928" cy="566928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210769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080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 &amp; Assets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 plan, suppliers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requests with approval, quotations / tenders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&amp; goods received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register, assignment, maintenance; stock with low-stock alerts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983980" y="178308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12580" y="1965960"/>
            <a:ext cx="566928" cy="566928"/>
          </a:xfrm>
          <a:prstGeom prst="ellipse">
            <a:avLst/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312" y="210769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12580" y="263347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 (lite)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12580" y="3044952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Users, roles &amp; permissions; audit log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for the three modules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&amp; purchase approval chains, email alerts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KPI dashboard, Excel / PDF export, Excel import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48640" y="548640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DF1DE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Package 3 (available as add-ons):  </a:t>
            </a:r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&amp; Accountability · HRIS (recruitment, leave, attendance) · Governance, Risk &amp; Compliance · Partnerships · full 14-KPI executive dashboard · mobile app. A basic staff list is kept so staff can be named as responsible persons, requesters and asset holders.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GROWING INTO THE FULL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small, upgrade without losing anything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birr paid is credited in full when O-YES moves up a package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Operations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priority modules on the web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250,000</a:t>
            </a:r>
            <a:endParaRPr lang="en-US" sz="12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108960"/>
            <a:ext cx="320040" cy="3200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8912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ETB 100,000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Web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1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Beneficiary, HRIS, GRC, Partnerships and the full dashboard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350,000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108960"/>
            <a:ext cx="320040" cy="3200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8229600" y="2103120"/>
            <a:ext cx="3291840" cy="2606040"/>
          </a:xfrm>
          <a:prstGeom prst="roundRect">
            <a:avLst>
              <a:gd name="adj" fmla="val 4211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50392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ETB 250,000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85039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FE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5039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Platform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8503920" y="34747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1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offline mobile app for field teams</a:t>
            </a:r>
            <a:endParaRPr lang="en-US" sz="125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4279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ETB 600,000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5143500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14300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rework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14300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 is built on the full design, so new modules plug into the same database, users and approvals.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38912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5143500"/>
            <a:ext cx="228600" cy="22860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98348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 cost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498348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step by step costs the same as buying the bigger package, at the prices in this proposal.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8229600" y="5029200"/>
            <a:ext cx="457200" cy="45720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5143500"/>
            <a:ext cx="228600" cy="2286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8823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window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8823960" y="528523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upgrade prices are held for 12 months from go-live of the first package.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TIMELINE &amp; PAYMENT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time and payment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terms, the same for every package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161288"/>
                <a:gridCol w="1161288"/>
                <a:gridCol w="1152144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7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B30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A4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— on contract signing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— on delivery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2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5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6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6052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E4F2EE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297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8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228600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contract signing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114800" y="4160520"/>
            <a:ext cx="3383280" cy="1097280"/>
          </a:xfrm>
          <a:prstGeom prst="roundRect">
            <a:avLst>
              <a:gd name="adj" fmla="val 6667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4297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4343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payment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delivery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1828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Estimated delivery time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3317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 · Complete Platform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001000" y="2624328"/>
            <a:ext cx="3611880" cy="365760"/>
          </a:xfrm>
          <a:prstGeom prst="roundRect">
            <a:avLst>
              <a:gd name="adj" fmla="val 15000"/>
            </a:avLst>
          </a:prstGeom>
          <a:solidFill>
            <a:srgbClr val="0B3033"/>
          </a:solidFill>
          <a:ln w="12700">
            <a:solidFill>
              <a:srgbClr val="0B30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10728" y="26243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months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200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2 · Complete Web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01000" y="3493008"/>
            <a:ext cx="2889504" cy="365760"/>
          </a:xfrm>
          <a:prstGeom prst="roundRect">
            <a:avLst>
              <a:gd name="adj" fmla="val 15000"/>
            </a:avLst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10728" y="3493008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69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3 · Core Operations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001000" y="4361688"/>
            <a:ext cx="2167128" cy="365760"/>
          </a:xfrm>
          <a:prstGeom prst="roundRect">
            <a:avLst>
              <a:gd name="adj" fmla="val 15000"/>
            </a:avLst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110728" y="4361688"/>
            <a:ext cx="198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months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5029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once requirements are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B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TERMS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Included in every package, and what is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delivery standard applies whichever package O-YES chooses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Integrated EMIS  ·  Financial proposal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3112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61872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handover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61872" y="20939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training for admins and users, user guide, recorded sessions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14800" y="18288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9659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28032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months free support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28032" y="20939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and help after go-live at no extra cost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61872" y="3154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&amp; domain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261872" y="34655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price: server hosting, domain and SSL, fully set up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0" y="32004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33375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828032" y="3154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34655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permissions, encrypted passwords, audit log, daily backups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70916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61872" y="45262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migration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261872" y="48371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of existing Excel registers for the modules in the package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4114800" y="4572000"/>
            <a:ext cx="548640" cy="54864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470916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4828032" y="45262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4828032" y="4837176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O-YES owns its data; source code handed over on final payment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7863840" y="1783080"/>
            <a:ext cx="3749040" cy="4434840"/>
          </a:xfrm>
          <a:prstGeom prst="roundRect">
            <a:avLst>
              <a:gd name="adj" fmla="val 2439"/>
            </a:avLst>
          </a:prstGeom>
          <a:solidFill>
            <a:srgbClr val="F2F6F6"/>
          </a:solidFill>
          <a:ln w="12700">
            <a:solidFill>
              <a:srgbClr val="DCE5E4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8138160" y="19659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0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included / paid separately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138160" y="237744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fees, if SMS notifications are used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Phones, tablets or computers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annual support &amp; maintenance after the free period: about 10% of the package price per year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features outside the agreed scope — quoted separately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external accounting software, if required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138160" y="516636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Validity: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valid for 60 days from this proposal.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Tax: </a:t>
            </a:r>
            <a:pPr indent="0" marL="0">
              <a:buNone/>
            </a:pPr>
            <a:r>
              <a:rPr lang="en-US" sz="115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treatment as stated in the final contract.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F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a starting package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640080" cy="640080"/>
          </a:xfrm>
          <a:prstGeom prst="ellipse">
            <a:avLst/>
          </a:prstGeom>
          <a:solidFill>
            <a:srgbClr val="EFA43A"/>
          </a:solidFill>
          <a:ln w="12700">
            <a:solidFill>
              <a:srgbClr val="EFA4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30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 package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1, 2 or 3 — or Package 3 now with a planned upgrade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terms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advance on signing, 70% on delivery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the contract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timeline and support terms confirmed in writing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61120" y="2514600"/>
            <a:ext cx="640080" cy="640080"/>
          </a:xfrm>
          <a:prstGeom prst="ellipse">
            <a:avLst/>
          </a:prstGeom>
          <a:solidFill>
            <a:srgbClr val="1B8A7A"/>
          </a:solidFill>
          <a:ln w="12700">
            <a:solidFill>
              <a:srgbClr val="1B8A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337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Kick off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workshop per module, then the clickable prototype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we look forward to building this with O-YES.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Abakas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O-YES EMIS Financial Proposal</dc:title>
  <dc:subject>PptxGenJS Presentation</dc:subject>
  <dc:creator>PptxGenJS</dc:creator>
  <cp:lastModifiedBy>PptxGenJS</cp:lastModifiedBy>
  <cp:revision>1</cp:revision>
  <dcterms:created xsi:type="dcterms:W3CDTF">2026-09-28T10:45:14Z</dcterms:created>
  <dcterms:modified xsi:type="dcterms:W3CDTF">2026-09-28T10:45:14Z</dcterms:modified>
</cp:coreProperties>
</file>