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proposal submitted separately from the technical proposal, as required by TOR section 45.2.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price: ETB 600,000 excluding VAT, ETB 90,000 VAT, ETB 690,000 total. Includes Year-1 hosting, app-store accounts, 12 weeks post-go-live support and the 12-month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TOR cost element is listed. Software licences are zero because the stack is open-source. SMS usage charges are excluded and listed on the exclusions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modules share authentication, master data, permissions, workflows, audit trails, notifications and reporting (TOR §6).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TCO years are counted from contract start. The Year-1 column equals the offer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Payment percentages are exactly those in TOR section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accounts (hosting, domain, Google Play, Apple) are registered under O-YES ownership, in line with TOR §41 on system administration credentials.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Validity of 90 days meets the TOR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signed and stamped by the authorized representative before sealing Envelope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08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O-YES Enterprise Management Information System (EMIS)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Development, Testing, Deployment and Support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37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Web Platform  ·  Android &amp; iOS Mobile Applications  ·  Online &amp; Offline  ·  Integrated Modules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 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Global Foundation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 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Abakas Tech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Reference posted 28-09-2026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 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Birr (ETB)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FINANCIAL OFFER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financial offer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scope of the Terms of Reference, fixed price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OFFER PRICE (INCL. 15% VAT)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ETB 690,000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54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hundred ninety thousand Ethiopian Birr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67328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840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excluding VAT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8404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600,000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4334256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4074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(15%)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40740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90,000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" y="4901184"/>
            <a:ext cx="4206240" cy="0"/>
          </a:xfrm>
          <a:prstGeom prst="line">
            <a:avLst/>
          </a:prstGeom>
          <a:noFill/>
          <a:ln w="9525">
            <a:solidFill>
              <a:srgbClr val="2E6B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974336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including VAT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97433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690,000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760720" y="1810512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2452" y="1952244"/>
            <a:ext cx="283464" cy="28346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492240" y="17922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integrated modules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20848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operational modules, including VMIS, plus the Integration and Control Hub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760720" y="269748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452" y="2839212"/>
            <a:ext cx="283464" cy="28346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492240" y="267919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web platform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6492240" y="2971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Role-based, responsive, English · Amharic · Afaan Oromo, multi-currency, multi-country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760720" y="3584448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452" y="3726180"/>
            <a:ext cx="283464" cy="28346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49224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&amp; iOS apps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6492240" y="38587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data capture, encrypted local storage and secure synchronization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760720" y="4471416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2452" y="4613148"/>
            <a:ext cx="283464" cy="28346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92240" y="44531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weeks + 12 weeks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492240" y="47457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implementation, then structured post-go-live support (36 weeks in total)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5760720" y="5358384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2452" y="5500116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6492240" y="534009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warranty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6492240" y="563270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correction after final acceptance; source code and IP transferred to O-YES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PRICE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schedule by cost category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elements as required by TOR §37, §39 and §45.2 — amounts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903720"/>
                <a:gridCol w="1097280"/>
                <a:gridCol w="118872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element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ref.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(ETB)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Inception, business-process analysis, requirements, architecture and UI/UX design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§5, §24, §31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platform and module development (11 modules, see detailed breakdown)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§6–§19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applications — Android and iOS, with offline capability and synchronization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 and quality assurance, incl. security and penetration testing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§23, §28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Deployment, pilot, UAT and initial system configuration / approved data import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§24, §29, §30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Training, user / administrator / technical manuals and knowledge transfer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services: Google Play developer account (one-time)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hosting, domain and SSL — 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Third-party services: Apple Developer Program — 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§20, 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Post-go-live support (12 weeks) and 12-month warranty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licences (open-source technology stack)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E5E5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(excluding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OFFER PRICE (including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PRICE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breakdown by module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of cost element 2 — web platform and module development: ETB 334,000 excluding VAT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863840"/>
                <a:gridCol w="118872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ref.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 (ETB)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 and System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and Control Hub (APIs, workflows, sync, audit, data quality)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 and Management Intelligence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and Programme Management (incl. MEAL)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and Grants Management (multi-currency)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and Asset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Capital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Beneficiary and Accountability Management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Risk and Compliance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Volunteer Management Information System (VMIS)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Multi-language (English, Amharic, Afaan Oromo), multi-currency and multi-country configuration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 §22, §27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web platform and module development (excluding VAT)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TOTAL COST OF OWNERSHIP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Three-year Total Cost of Ownership (TCO)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implementation costs shown separately from recurring costs, as required by TOR §39 — amounts in ETB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097280"/>
                <a:gridCol w="1188720"/>
                <a:gridCol w="1188720"/>
                <a:gridCol w="1188720"/>
                <a:gridCol w="12801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3-year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Implementation: analysis, design, web platform, mobile apps, testing, deployment, training, Google Play account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hosting, domain and SSL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Developer Program (iOS app publishing)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1: post-go-live support (12 weeks) + 12-month warranty · Years 2–3: annual support &amp; maintenance (optional)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licences (open-source stack)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(excluding VAT)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INCLUDING VAT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6928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is fully covered by the offer price of ETB 690,000.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 hosting and app-store fees are recurring; annual support &amp; maintenance (10% of the implementation price) is optional and is only needed after the 12-month warranty. SMS charges are usage-based and excluded.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PAYMENT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schedule linked to accepted deliverables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indicative schedule in TOR §40 — payments due on O-YES acceptance of each deliverable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26280"/>
                <a:gridCol w="1143000"/>
                <a:gridCol w="868680"/>
                <a:gridCol w="1371600"/>
                <a:gridCol w="128016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 (accepted deliverable)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Excl. VAT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Incl. VAT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and Workplan Approval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and Architecture Approval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Development Milestone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Mobile, VMIS and Integration Hub Milestone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and Pilot 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 and Production 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22–24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Handover and Acceptance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FA4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weeks follow the deliverable schedule in TOR §31. Post-go-live support (weeks 25–36) and the 12-month warranty are included in the price and carry no separate payment.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SCOPE OF THE PRICE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price includes, and what it does not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costs are identified as required by TOR §39; third-party components as required by TOR §41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E4F2E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Included in the offer price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modules in TOR §6, including VMIS and the Integration and Control Hub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platform plus Android and iOS apps with offline synchronization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Amharic and Afaan Oromo; ETB, USD, EUR, GBP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penetration testing, pilot and UAT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hosting, domain, SSL and app-store accounts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manuals, source code and documentation handover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weeks post-go-live support and 12-month warranty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05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FDF1D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Excluded costs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491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charges — usage-based, billed at provider cost if SMS is used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Hosting, domain and app-store renewals from Year 2 (see TCO)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support &amp; maintenance after the warranty (optional)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outside the approved scope — through change control (TOR §43)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fees of optional paid tools chosen by O-YES (e.g. Power BI) or external systems to integrate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Computers, phones, tablets and internet connectivity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92440" y="1783080"/>
            <a:ext cx="3520440" cy="4434840"/>
          </a:xfrm>
          <a:prstGeom prst="roundRect">
            <a:avLst>
              <a:gd name="adj" fmla="val 2078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9659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Third-party components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42316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backend, mobile and database frameworks: open-source (MIT / Apache / PostgreSQL-type licences) — no licence fees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encrypted offline storage — public domain, no fee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developer account — one-time fee, in O-YES's name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Developer Program — annual fee, in O-YES's name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 provider — annual fee (Year 1 included)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TERMS OF THE OFFER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terms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25296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to this financial proposal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prices are in Ethiopian Birr (ETB).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VAT at 15% is shown separately and included in the total offer price of ETB 690,000.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price for the scope defined in the Terms of Reference and the technical proposal.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offer is valid for 90 calendar days from the submission deadline (TOR §45).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period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weeks core implementation, followed by 12 weeks post-go-live support (36 weeks).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Warranty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from final system acceptance, covering defects attributable to the delivered system (TOR §34).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Seven milestones linked to accepted deliverables, per TOR §40 (see payment schedule).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code, database schema, documentation and credentials transfer to O-YES upon payment (TOR §41).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Foreign-currency fees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and Google fees are charged in USD; ETB amounts are estimates at the current exchange rate.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DECLARATION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Bidder's declaration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2 – FINANCIAL PROPOSAL  ·  O-YES EMIS – Design, Development, Testing, Deployment and Support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We, the undersigned, offer to design, develop, test, deploy and support the O-YES Enterprise Management Information System (EMIS) in accordance with the Terms of Reference, for the total sum of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690,000 (Six hundred ninety thousand Ethiopian Birr), including 15% VAT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offer is valid for 90 calendar days from the proposal submission deadline and shall remain binding upon us until that date.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name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Abakas Tech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2971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signatory (name)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70332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position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475488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80644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stamp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5806440"/>
            <a:ext cx="5303520" cy="0"/>
          </a:xfrm>
          <a:prstGeom prst="line">
            <a:avLst/>
          </a:prstGeom>
          <a:noFill/>
          <a:ln w="12700">
            <a:solidFill>
              <a:srgbClr val="8A9A9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O-YES EMIS Financial Proposal</dc:title>
  <dc:subject>PptxGenJS Presentation</dc:subject>
  <dc:creator>PptxGenJS</dc:creator>
  <cp:lastModifiedBy>PptxGenJS</cp:lastModifiedBy>
  <cp:revision>1</cp:revision>
  <dcterms:created xsi:type="dcterms:W3CDTF">2026-10-07T08:55:20Z</dcterms:created>
  <dcterms:modified xsi:type="dcterms:W3CDTF">2026-10-07T08:55:20Z</dcterms:modified>
</cp:coreProperties>
</file>