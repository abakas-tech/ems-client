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complete system proposal for a construction company. Anything the client needs beyond this can be added to the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general picture of how building contractors work. The system is built around these five core departments.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owner which of these hurt most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stages left to right. Stages 4 to 6 repeat every day and every month until the building is finished.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12 modules share one database: a purchase updates stock and finance, attendance becomes the pay sheet, and every cost is charged to a building.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owner what is missing from Site / project management and Projects &amp; contracts. Anything he adds goes into the final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owner what is missing from Sales &amp; market prices and Purchasing. Anything he adds goes into the final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owner what is missing from Stock management and Machines &amp; vehicles. Anything he adds goes into the final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owner what is missing from Finance and Client billing. Anything he adds goes into the final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owner what is missing from HR &amp; daily workers and Subcontractors. Anything he adds goes into the final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owner what is missing from Documents &amp; letters and Owner dashboard, reports &amp; settings. Anything he adds goes into the final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Additional reports can be added during the requirements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key message: data is entered once by the person closest to it, then reused everywhere. No re-typing and no lost receipts.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can one person hold two roles (for example, storekeeper and purchaser)? Which amounts need the owner's approval?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Alerts can be shown in the system and sent by email; SMS can be added if required.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short unless the owner asks technical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weeks is achievable because modules are built in parallel on one shared foundation. Quick answers from the client's side are essential.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Prices valid for 60 days. Confirm VAT treatment before sending.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Capture answers directly during the meeting. Additions are reviewed against the scope and timeline before signing.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Agree a date for the review meeting and a contact person on the client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91440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64040" y="91440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378440" y="91440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49640" y="173736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64040" y="173736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378440" y="173736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49640" y="256032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64040" y="256032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78440" y="256032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49640" y="3383280"/>
            <a:ext cx="713232" cy="713232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464040" y="338328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378440" y="338328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49640" y="420624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464040" y="420624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378440" y="420624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49640" y="502920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64040" y="5029200"/>
            <a:ext cx="713232" cy="713232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378440" y="5029200"/>
            <a:ext cx="713232" cy="713232"/>
          </a:xfrm>
          <a:prstGeom prst="rect">
            <a:avLst/>
          </a:prstGeom>
          <a:solidFill>
            <a:srgbClr val="2C3238"/>
          </a:solidFill>
          <a:ln w="12700">
            <a:solidFill>
              <a:srgbClr val="2C323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11887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PROPOSAL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160020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</a:t>
            </a:r>
            <a:endParaRPr lang="en-US" sz="42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306324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web system for projects and sites, market prices and sales, finance, HR and daily workers, and stock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43484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Abakas Tech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8A9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September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UNDERSTANDING CONSTRUCTION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construction company works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building contractor manages every day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731520" cy="73152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574" y="1944014"/>
            <a:ext cx="409651" cy="409651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63040" y="180136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projects for clients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21305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Several building sites running at the same time, each with its own budget and team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48640" y="2862072"/>
            <a:ext cx="731520" cy="73152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574" y="3023006"/>
            <a:ext cx="409651" cy="409651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63040" y="288036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Buying and selling materials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1463040" y="320954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prices in Merkato and other markets decide where to buy; materials are also sold to customers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48640" y="3941064"/>
            <a:ext cx="731520" cy="73152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574" y="4101998"/>
            <a:ext cx="409651" cy="409651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63040" y="39593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Money moving every day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1463040" y="428853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 for materials, workers, machines and site costs at every site, all needing proper records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548640" y="5020056"/>
            <a:ext cx="731520" cy="73152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574" y="5180990"/>
            <a:ext cx="409651" cy="409651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63040" y="503834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Permanent and daily workers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1463040" y="53675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daily labourers on site, paid based on their attendance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6675120" y="1783080"/>
            <a:ext cx="4937760" cy="434340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995160" y="19659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departments</a:t>
            </a:r>
            <a:endParaRPr lang="en-US" sz="1700" dirty="0"/>
          </a:p>
        </p:txBody>
      </p:sp>
      <p:sp>
        <p:nvSpPr>
          <p:cNvPr id="27" name="Shape 21"/>
          <p:cNvSpPr/>
          <p:nvPr/>
        </p:nvSpPr>
        <p:spPr>
          <a:xfrm>
            <a:off x="6995160" y="2514600"/>
            <a:ext cx="329184" cy="32918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6995160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7498080" y="251460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management</a:t>
            </a:r>
            <a:endParaRPr lang="en-US" sz="1350" dirty="0"/>
          </a:p>
        </p:txBody>
      </p:sp>
      <p:sp>
        <p:nvSpPr>
          <p:cNvPr id="30" name="Shape 24"/>
          <p:cNvSpPr/>
          <p:nvPr/>
        </p:nvSpPr>
        <p:spPr>
          <a:xfrm>
            <a:off x="6995160" y="2990088"/>
            <a:ext cx="329184" cy="32918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6995160" y="2990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2" name="Text 26"/>
          <p:cNvSpPr txBox="1"/>
          <p:nvPr/>
        </p:nvSpPr>
        <p:spPr>
          <a:xfrm>
            <a:off x="7498080" y="2990088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&amp; purchasing (market prices, buying &amp; selling)</a:t>
            </a:r>
            <a:endParaRPr lang="en-US" sz="1350" dirty="0"/>
          </a:p>
        </p:txBody>
      </p:sp>
      <p:sp>
        <p:nvSpPr>
          <p:cNvPr id="33" name="Shape 27"/>
          <p:cNvSpPr/>
          <p:nvPr/>
        </p:nvSpPr>
        <p:spPr>
          <a:xfrm>
            <a:off x="6995160" y="3465576"/>
            <a:ext cx="329184" cy="32918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6995160" y="34655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5" name="Text 29"/>
          <p:cNvSpPr txBox="1"/>
          <p:nvPr/>
        </p:nvSpPr>
        <p:spPr>
          <a:xfrm>
            <a:off x="7498080" y="3465576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</a:t>
            </a:r>
            <a:endParaRPr lang="en-US" sz="1350" dirty="0"/>
          </a:p>
        </p:txBody>
      </p:sp>
      <p:sp>
        <p:nvSpPr>
          <p:cNvPr id="36" name="Shape 30"/>
          <p:cNvSpPr/>
          <p:nvPr/>
        </p:nvSpPr>
        <p:spPr>
          <a:xfrm>
            <a:off x="6995160" y="3941064"/>
            <a:ext cx="329184" cy="32918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6995160" y="3941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38" name="Text 32"/>
          <p:cNvSpPr txBox="1"/>
          <p:nvPr/>
        </p:nvSpPr>
        <p:spPr>
          <a:xfrm>
            <a:off x="7498080" y="394106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 management</a:t>
            </a:r>
            <a:endParaRPr lang="en-US" sz="1350" dirty="0"/>
          </a:p>
        </p:txBody>
      </p:sp>
      <p:sp>
        <p:nvSpPr>
          <p:cNvPr id="39" name="Shape 33"/>
          <p:cNvSpPr/>
          <p:nvPr/>
        </p:nvSpPr>
        <p:spPr>
          <a:xfrm>
            <a:off x="6995160" y="4416552"/>
            <a:ext cx="329184" cy="32918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6995160" y="44165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41" name="Text 35"/>
          <p:cNvSpPr txBox="1"/>
          <p:nvPr/>
        </p:nvSpPr>
        <p:spPr>
          <a:xfrm>
            <a:off x="7498080" y="4416552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management</a:t>
            </a:r>
            <a:endParaRPr lang="en-US" sz="1350" dirty="0"/>
          </a:p>
        </p:txBody>
      </p:sp>
      <p:sp>
        <p:nvSpPr>
          <p:cNvPr id="42" name="Text 36"/>
          <p:cNvSpPr txBox="1"/>
          <p:nvPr/>
        </p:nvSpPr>
        <p:spPr>
          <a:xfrm>
            <a:off x="6995160" y="4983480"/>
            <a:ext cx="4343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aim: </a:t>
            </a:r>
            <a:pPr indent="0" marL="0">
              <a:buNone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whole company in one system, with nothing left on paper. On top of these core departments, we add the supporting modules every construction company needs.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WHAT WE UNDERSTOOD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system will fix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problems in construction companies, and what changes with one system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5440680" cy="12801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1938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13055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Prices are collected by phone and memory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47802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THE SYSTEM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267004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shared price board: every material, every market, every day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72200" y="1783080"/>
            <a:ext cx="5440680" cy="12801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19385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213055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Receipts get lost; tax filing is stressful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247802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THE SYSTEM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267004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payment is saved with its receipt photo; tax reports are ready to print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3246120"/>
            <a:ext cx="5440680" cy="12801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340156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359359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clear cost per building until the end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394106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THE SYSTEM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13308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 vs actual cost and profit for each building, updated every day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72200" y="3246120"/>
            <a:ext cx="5440680" cy="12801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46520" y="340156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6446520" y="359359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goes missing between store and site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446520" y="394106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THE SYSTEM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446520" y="413308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bag and bar is tracked in, out and between stores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4709160"/>
            <a:ext cx="5440680" cy="12801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2960" y="486460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" y="505663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worker pay is calculated by hand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" y="540410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THE SYSTEM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22960" y="559612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Attendance becomes the pay sheet automatically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172200" y="4709160"/>
            <a:ext cx="5440680" cy="12801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46520" y="486460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6446520" y="505663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owner must call each site to know the status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446520" y="540410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THE SYSTEM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6446520" y="559612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dashboard shows all sites, cash, stock and alerts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VIEW 1 — THE LIFE OF A BUILDING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first enquiry to final handover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building passes through the same 9 stages, and the system follows each one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2011680"/>
            <a:ext cx="1152144" cy="8229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395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the project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971800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Enquiry or tender, cost estimate, quotation, won or lost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792224" y="2011680"/>
            <a:ext cx="1152144" cy="8229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901952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901952" y="2395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792224" y="2971800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Price, duration, advance, retention, delay penalty, guarantees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035808" y="2011680"/>
            <a:ext cx="1152144" cy="8229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145536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145536" y="2395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Planning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035808" y="2971800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plan, work plan by floor, materials, workers and machines needed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279392" y="2011680"/>
            <a:ext cx="1152144" cy="82296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389120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389120" y="2395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Buying &amp; stock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279392" y="2971800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prices, buy from the best supplier, receive, send to site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522976" y="2011680"/>
            <a:ext cx="1152144" cy="82296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32704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632704" y="2395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522976" y="2971800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reports, attendance, materials used, machines, subcontractors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766560" y="2011680"/>
            <a:ext cx="1152144" cy="82296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76288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876288" y="2395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paid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6766560" y="2971800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work done, bill the client, approval, payment received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010144" y="2011680"/>
            <a:ext cx="1152144" cy="8229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119872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119872" y="2395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Changes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010144" y="2971800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work the client asks for: price, approval, added to the contract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9253728" y="2011680"/>
            <a:ext cx="1152144" cy="8229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363456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9363456" y="2395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Handover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9253728" y="2971800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Defects list, fix, hand over, retention and guarantees released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10497312" y="2011680"/>
            <a:ext cx="1152144" cy="8229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607040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607040" y="2395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10497312" y="2971800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cost vs contract price, profit or loss, lessons learned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448056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INVOLVED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48640" y="4800600"/>
            <a:ext cx="3639312" cy="502920"/>
          </a:xfrm>
          <a:prstGeom prst="rect">
            <a:avLst/>
          </a:prstGeom>
          <a:solidFill>
            <a:srgbClr val="E3E8EE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21792" y="4800600"/>
            <a:ext cx="3493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&amp; project manager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279392" y="4800600"/>
            <a:ext cx="1152144" cy="502920"/>
          </a:xfrm>
          <a:prstGeom prst="rect">
            <a:avLst/>
          </a:prstGeom>
          <a:solidFill>
            <a:srgbClr val="E3E8EE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352544" y="48006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&amp; stock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522976" y="4800600"/>
            <a:ext cx="1152144" cy="502920"/>
          </a:xfrm>
          <a:prstGeom prst="rect">
            <a:avLst/>
          </a:prstGeom>
          <a:solidFill>
            <a:srgbClr val="E3E8EE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596128" y="48006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Site, HR &amp; stock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766560" y="4800600"/>
            <a:ext cx="1152144" cy="502920"/>
          </a:xfrm>
          <a:prstGeom prst="rect">
            <a:avLst/>
          </a:prstGeom>
          <a:solidFill>
            <a:srgbClr val="E3E8EE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839712" y="48006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&amp; finance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8010144" y="4800600"/>
            <a:ext cx="1152144" cy="502920"/>
          </a:xfrm>
          <a:prstGeom prst="rect">
            <a:avLst/>
          </a:prstGeom>
          <a:solidFill>
            <a:srgbClr val="E3E8EE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083296" y="48006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&amp; owner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9253728" y="4800600"/>
            <a:ext cx="2395728" cy="502920"/>
          </a:xfrm>
          <a:prstGeom prst="rect">
            <a:avLst/>
          </a:prstGeom>
          <a:solidFill>
            <a:srgbClr val="E3E8EE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9326880" y="480060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&amp; finance</a:t>
            </a:r>
            <a:endParaRPr lang="en-US" sz="1000" dirty="0"/>
          </a:p>
        </p:txBody>
      </p:sp>
      <p:sp>
        <p:nvSpPr>
          <p:cNvPr id="58" name="Text 56"/>
          <p:cNvSpPr txBox="1"/>
          <p:nvPr/>
        </p:nvSpPr>
        <p:spPr>
          <a:xfrm>
            <a:off x="548640" y="55778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Orange stages happen every day on every site; this is where most of the data is entered.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VIEW 2 — DEPARTMENTS &amp; MODULES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connected modules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core departments, plus 7 supporting modules so nothing is left outside the system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2606040" cy="1188720"/>
          </a:xfrm>
          <a:prstGeom prst="rect">
            <a:avLst/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965960"/>
            <a:ext cx="566928" cy="566928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6244" y="2090684"/>
            <a:ext cx="317480" cy="3174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2468880" y="19659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5877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/ project management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337560" y="1783080"/>
            <a:ext cx="2606040" cy="1188720"/>
          </a:xfrm>
          <a:prstGeom prst="rect">
            <a:avLst/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20440" y="1965960"/>
            <a:ext cx="566928" cy="566928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5164" y="2090684"/>
            <a:ext cx="317480" cy="31748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257800" y="19659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3520440" y="25877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&amp; market prices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6126480" y="1783080"/>
            <a:ext cx="2606040" cy="1188720"/>
          </a:xfrm>
          <a:prstGeom prst="rect">
            <a:avLst/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309360" y="1965960"/>
            <a:ext cx="566928" cy="566928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084" y="2090684"/>
            <a:ext cx="317480" cy="31748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046720" y="19659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6309360" y="25877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8915400" y="1783080"/>
            <a:ext cx="2606040" cy="1188720"/>
          </a:xfrm>
          <a:prstGeom prst="rect">
            <a:avLst/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098280" y="1965960"/>
            <a:ext cx="566928" cy="566928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3004" y="2090684"/>
            <a:ext cx="317480" cy="31748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0835640" y="19659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8" name="Text 22"/>
          <p:cNvSpPr txBox="1"/>
          <p:nvPr/>
        </p:nvSpPr>
        <p:spPr>
          <a:xfrm>
            <a:off x="9098280" y="25877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 &amp; daily workers</a:t>
            </a:r>
            <a:endParaRPr lang="en-US" sz="1250" dirty="0"/>
          </a:p>
        </p:txBody>
      </p:sp>
      <p:sp>
        <p:nvSpPr>
          <p:cNvPr id="29" name="Shape 23"/>
          <p:cNvSpPr/>
          <p:nvPr/>
        </p:nvSpPr>
        <p:spPr>
          <a:xfrm>
            <a:off x="548640" y="3154680"/>
            <a:ext cx="2606040" cy="1188720"/>
          </a:xfrm>
          <a:prstGeom prst="rect">
            <a:avLst/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731520" y="3337560"/>
            <a:ext cx="566928" cy="566928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6244" y="3462284"/>
            <a:ext cx="317480" cy="31748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2468880" y="33375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33" name="Text 26"/>
          <p:cNvSpPr txBox="1"/>
          <p:nvPr/>
        </p:nvSpPr>
        <p:spPr>
          <a:xfrm>
            <a:off x="731520" y="3959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management</a:t>
            </a:r>
            <a:endParaRPr lang="en-US" sz="1250" dirty="0"/>
          </a:p>
        </p:txBody>
      </p:sp>
      <p:sp>
        <p:nvSpPr>
          <p:cNvPr id="34" name="Shape 27"/>
          <p:cNvSpPr/>
          <p:nvPr/>
        </p:nvSpPr>
        <p:spPr>
          <a:xfrm>
            <a:off x="3337560" y="3154680"/>
            <a:ext cx="2606040" cy="118872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3520440" y="333756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45164" y="3462284"/>
            <a:ext cx="317480" cy="317480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5257800" y="33375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38" name="Text 30"/>
          <p:cNvSpPr txBox="1"/>
          <p:nvPr/>
        </p:nvSpPr>
        <p:spPr>
          <a:xfrm>
            <a:off x="3520440" y="3959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&amp; contracts</a:t>
            </a:r>
            <a:endParaRPr lang="en-US" sz="1250" dirty="0"/>
          </a:p>
        </p:txBody>
      </p:sp>
      <p:sp>
        <p:nvSpPr>
          <p:cNvPr id="39" name="Shape 31"/>
          <p:cNvSpPr/>
          <p:nvPr/>
        </p:nvSpPr>
        <p:spPr>
          <a:xfrm>
            <a:off x="6126480" y="3154680"/>
            <a:ext cx="2606040" cy="118872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6309360" y="333756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34084" y="3462284"/>
            <a:ext cx="317480" cy="317480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8046720" y="33375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3" name="Text 34"/>
          <p:cNvSpPr txBox="1"/>
          <p:nvPr/>
        </p:nvSpPr>
        <p:spPr>
          <a:xfrm>
            <a:off x="6309360" y="3959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Purchasing</a:t>
            </a:r>
            <a:endParaRPr lang="en-US" sz="1250" dirty="0"/>
          </a:p>
        </p:txBody>
      </p:sp>
      <p:sp>
        <p:nvSpPr>
          <p:cNvPr id="44" name="Shape 35"/>
          <p:cNvSpPr/>
          <p:nvPr/>
        </p:nvSpPr>
        <p:spPr>
          <a:xfrm>
            <a:off x="8915400" y="3154680"/>
            <a:ext cx="2606040" cy="118872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45" name="Shape 36"/>
          <p:cNvSpPr/>
          <p:nvPr/>
        </p:nvSpPr>
        <p:spPr>
          <a:xfrm>
            <a:off x="9098280" y="333756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4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3004" y="3462284"/>
            <a:ext cx="317480" cy="317480"/>
          </a:xfrm>
          <a:prstGeom prst="rect">
            <a:avLst/>
          </a:prstGeom>
        </p:spPr>
      </p:pic>
      <p:sp>
        <p:nvSpPr>
          <p:cNvPr id="47" name="Text 37"/>
          <p:cNvSpPr txBox="1"/>
          <p:nvPr/>
        </p:nvSpPr>
        <p:spPr>
          <a:xfrm>
            <a:off x="10835640" y="33375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8" name="Text 38"/>
          <p:cNvSpPr txBox="1"/>
          <p:nvPr/>
        </p:nvSpPr>
        <p:spPr>
          <a:xfrm>
            <a:off x="9098280" y="3959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billing</a:t>
            </a:r>
            <a:endParaRPr lang="en-US" sz="1250" dirty="0"/>
          </a:p>
        </p:txBody>
      </p:sp>
      <p:sp>
        <p:nvSpPr>
          <p:cNvPr id="49" name="Shape 39"/>
          <p:cNvSpPr/>
          <p:nvPr/>
        </p:nvSpPr>
        <p:spPr>
          <a:xfrm>
            <a:off x="548640" y="4526280"/>
            <a:ext cx="2606040" cy="118872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50" name="Shape 40"/>
          <p:cNvSpPr/>
          <p:nvPr/>
        </p:nvSpPr>
        <p:spPr>
          <a:xfrm>
            <a:off x="731520" y="470916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5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6244" y="4833884"/>
            <a:ext cx="317480" cy="317480"/>
          </a:xfrm>
          <a:prstGeom prst="rect">
            <a:avLst/>
          </a:prstGeom>
        </p:spPr>
      </p:pic>
      <p:sp>
        <p:nvSpPr>
          <p:cNvPr id="52" name="Text 41"/>
          <p:cNvSpPr txBox="1"/>
          <p:nvPr/>
        </p:nvSpPr>
        <p:spPr>
          <a:xfrm>
            <a:off x="2468880" y="47091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53" name="Text 42"/>
          <p:cNvSpPr txBox="1"/>
          <p:nvPr/>
        </p:nvSpPr>
        <p:spPr>
          <a:xfrm>
            <a:off x="731520" y="53309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Subcontractors</a:t>
            </a:r>
            <a:endParaRPr lang="en-US" sz="1250" dirty="0"/>
          </a:p>
        </p:txBody>
      </p:sp>
      <p:sp>
        <p:nvSpPr>
          <p:cNvPr id="54" name="Shape 43"/>
          <p:cNvSpPr/>
          <p:nvPr/>
        </p:nvSpPr>
        <p:spPr>
          <a:xfrm>
            <a:off x="3337560" y="4526280"/>
            <a:ext cx="2606040" cy="118872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55" name="Shape 44"/>
          <p:cNvSpPr/>
          <p:nvPr/>
        </p:nvSpPr>
        <p:spPr>
          <a:xfrm>
            <a:off x="3520440" y="470916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5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45164" y="4833884"/>
            <a:ext cx="317480" cy="317480"/>
          </a:xfrm>
          <a:prstGeom prst="rect">
            <a:avLst/>
          </a:prstGeom>
        </p:spPr>
      </p:pic>
      <p:sp>
        <p:nvSpPr>
          <p:cNvPr id="57" name="Text 45"/>
          <p:cNvSpPr txBox="1"/>
          <p:nvPr/>
        </p:nvSpPr>
        <p:spPr>
          <a:xfrm>
            <a:off x="5257800" y="47091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58" name="Text 46"/>
          <p:cNvSpPr txBox="1"/>
          <p:nvPr/>
        </p:nvSpPr>
        <p:spPr>
          <a:xfrm>
            <a:off x="3520440" y="53309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Machines &amp; vehicles</a:t>
            </a:r>
            <a:endParaRPr lang="en-US" sz="1250" dirty="0"/>
          </a:p>
        </p:txBody>
      </p:sp>
      <p:sp>
        <p:nvSpPr>
          <p:cNvPr id="59" name="Shape 47"/>
          <p:cNvSpPr/>
          <p:nvPr/>
        </p:nvSpPr>
        <p:spPr>
          <a:xfrm>
            <a:off x="6126480" y="4526280"/>
            <a:ext cx="2606040" cy="118872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60" name="Shape 48"/>
          <p:cNvSpPr/>
          <p:nvPr/>
        </p:nvSpPr>
        <p:spPr>
          <a:xfrm>
            <a:off x="6309360" y="470916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6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34084" y="4833884"/>
            <a:ext cx="317480" cy="317480"/>
          </a:xfrm>
          <a:prstGeom prst="rect">
            <a:avLst/>
          </a:prstGeom>
        </p:spPr>
      </p:pic>
      <p:sp>
        <p:nvSpPr>
          <p:cNvPr id="62" name="Text 49"/>
          <p:cNvSpPr txBox="1"/>
          <p:nvPr/>
        </p:nvSpPr>
        <p:spPr>
          <a:xfrm>
            <a:off x="8046720" y="47091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63" name="Text 50"/>
          <p:cNvSpPr txBox="1"/>
          <p:nvPr/>
        </p:nvSpPr>
        <p:spPr>
          <a:xfrm>
            <a:off x="6309360" y="53309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 &amp; letters</a:t>
            </a:r>
            <a:endParaRPr lang="en-US" sz="1250" dirty="0"/>
          </a:p>
        </p:txBody>
      </p:sp>
      <p:sp>
        <p:nvSpPr>
          <p:cNvPr id="64" name="Shape 51"/>
          <p:cNvSpPr/>
          <p:nvPr/>
        </p:nvSpPr>
        <p:spPr>
          <a:xfrm>
            <a:off x="8915400" y="4526280"/>
            <a:ext cx="2606040" cy="118872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65" name="Shape 52"/>
          <p:cNvSpPr/>
          <p:nvPr/>
        </p:nvSpPr>
        <p:spPr>
          <a:xfrm>
            <a:off x="9098280" y="470916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66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23004" y="4833884"/>
            <a:ext cx="317480" cy="317480"/>
          </a:xfrm>
          <a:prstGeom prst="rect">
            <a:avLst/>
          </a:prstGeom>
        </p:spPr>
      </p:pic>
      <p:sp>
        <p:nvSpPr>
          <p:cNvPr id="67" name="Text 53"/>
          <p:cNvSpPr txBox="1"/>
          <p:nvPr/>
        </p:nvSpPr>
        <p:spPr>
          <a:xfrm>
            <a:off x="10835640" y="47091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68" name="Text 54"/>
          <p:cNvSpPr txBox="1"/>
          <p:nvPr/>
        </p:nvSpPr>
        <p:spPr>
          <a:xfrm>
            <a:off x="9098280" y="53309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dashboard, reports &amp; settings</a:t>
            </a:r>
            <a:endParaRPr lang="en-US" sz="1250" dirty="0"/>
          </a:p>
        </p:txBody>
      </p:sp>
      <p:sp>
        <p:nvSpPr>
          <p:cNvPr id="69" name="Shape 55"/>
          <p:cNvSpPr/>
          <p:nvPr/>
        </p:nvSpPr>
        <p:spPr>
          <a:xfrm>
            <a:off x="548640" y="5989320"/>
            <a:ext cx="182880" cy="1828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70" name="Text 56"/>
          <p:cNvSpPr txBox="1"/>
          <p:nvPr/>
        </p:nvSpPr>
        <p:spPr>
          <a:xfrm>
            <a:off x="822960" y="5943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departments</a:t>
            </a:r>
            <a:endParaRPr lang="en-US" sz="1150" dirty="0"/>
          </a:p>
        </p:txBody>
      </p:sp>
      <p:sp>
        <p:nvSpPr>
          <p:cNvPr id="71" name="Shape 57"/>
          <p:cNvSpPr/>
          <p:nvPr/>
        </p:nvSpPr>
        <p:spPr>
          <a:xfrm>
            <a:off x="3383280" y="5989320"/>
            <a:ext cx="182880" cy="1828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72" name="Text 58"/>
          <p:cNvSpPr txBox="1"/>
          <p:nvPr/>
        </p:nvSpPr>
        <p:spPr>
          <a:xfrm>
            <a:off x="3657600" y="5943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modules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MODULES IN DETAIL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/ project management  +  Projects &amp; contracts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management runs each building; contracts set the rules for it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5440680" cy="8686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984248"/>
            <a:ext cx="457200" cy="4572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/ project management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MODULE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12064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file for each building: client, location, floors, contract price, dates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plan: every material and job with quantity and price (the budget)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plan by stage and floor, planned vs actual dates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site report: workers, work done, materials used, problems, photos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requests from site → approval → stock or purchase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%, quality checks, safety incidents, defects list and handover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72200" y="1783080"/>
            <a:ext cx="5440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84248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04088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&amp; contracts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704088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MODULE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1074420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400" dirty="0"/>
          </a:p>
        </p:txBody>
      </p:sp>
      <p:sp>
        <p:nvSpPr>
          <p:cNvPr id="21" name="Shape 17"/>
          <p:cNvSpPr/>
          <p:nvPr/>
        </p:nvSpPr>
        <p:spPr>
          <a:xfrm>
            <a:off x="617220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4652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register and contact history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Quotations and tenders: estimate → price → submit → won or lost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 details: price, duration, advance, retention, delay penalty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 guarantees (advance, performance) with expiry alerts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work requested by the client: price → approval → contract updated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Signed contracts and attachments kept with the project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MODULES IN DETAIL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&amp; market prices  +  Purchasing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sales team knows the prices, so purchasing always buys at the best one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5440680" cy="8686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984248"/>
            <a:ext cx="457200" cy="4572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&amp; market prices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MODULE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12064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board: every material × market (Merkato and others) × date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Cheapest market today, price history charts, price-rise alerts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list with brand and unit (quintal, ton, piece, m³)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Selling materials to customers: quotation → sale → receipt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and credit sales, customer balances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 per sale: buying price vs selling price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72200" y="1783080"/>
            <a:ext cx="5440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84248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04088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Purchasing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704088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MODULE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1074420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2400" dirty="0"/>
          </a:p>
        </p:txBody>
      </p:sp>
      <p:sp>
        <p:nvSpPr>
          <p:cNvPr id="21" name="Shape 17"/>
          <p:cNvSpPr/>
          <p:nvPr/>
        </p:nvSpPr>
        <p:spPr>
          <a:xfrm>
            <a:off x="617220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4652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 requests from a site or the store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2–3 supplier prices, taken from the price board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by amount (for example, the owner approves large purchases)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 order → goods received → receipt sent to finance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register, supplier payments and balances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 history for every material and supplier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MODULES IN DETAIL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management  +  Machines &amp; vehicles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material and machine is tracked, and its cost goes to a building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5440680" cy="8686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984248"/>
            <a:ext cx="457200" cy="4572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management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MODULE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12064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store plus one store at each site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in from purchases, checked against the order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out to a building or job, or to a sales customer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Transfers: main store ↔ site, site ↔ site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balance per store, low-stock alerts, stock count vs system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used vs planned for each building (shows waste early)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72200" y="1783080"/>
            <a:ext cx="5440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84248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04088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Machines &amp; vehicles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704088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MODULE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1074420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400" dirty="0"/>
          </a:p>
        </p:txBody>
      </p:sp>
      <p:sp>
        <p:nvSpPr>
          <p:cNvPr id="21" name="Shape 17"/>
          <p:cNvSpPr/>
          <p:nvPr/>
        </p:nvSpPr>
        <p:spPr>
          <a:xfrm>
            <a:off x="617220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4652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 of owned and rented machines and vehicles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site each machine is on, and when it moved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Fuel issued and consumption per machine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schedule, repairs and their cost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Rental agreements, hours worked, rent due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cost charged to each building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MODULES IN DETAIL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  +  Client billing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money in and out, with receipts, and client bills that are never forgotten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5440680" cy="8686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984248"/>
            <a:ext cx="457200" cy="4572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MODULE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12064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payment in or out saved with its receipt (photo or scan)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 for any payment without a receipt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petty cash: given, spent, receipts, balance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 and cash accounts, transfers, reconciliation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owe suppliers, what clients and customers owe us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and profit per building; VAT, withholding and income/expense reports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72200" y="1783080"/>
            <a:ext cx="5440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84248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04088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billing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704088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MODULE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1074420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2400" dirty="0"/>
          </a:p>
        </p:txBody>
      </p:sp>
      <p:sp>
        <p:nvSpPr>
          <p:cNvPr id="21" name="Shape 17"/>
          <p:cNvSpPr/>
          <p:nvPr/>
        </p:nvSpPr>
        <p:spPr>
          <a:xfrm>
            <a:off x="617220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4652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work done in each period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request (bill) to the client for that work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 repayment and retention deducted automatically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Status: submitted → approved by client's engineer → paid or overdue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work billed separately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released after handover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MODULES IN DETAIL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 &amp; daily workers  +  Subcontractors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who works on site, whether employed, daily or subcontracted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5440680" cy="8686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984248"/>
            <a:ext cx="457200" cy="4572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 &amp; daily workers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MODULE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12064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Permanent staff: contract, salary, leave, documents, assigned site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workers: ID, photo, phone, skill (mason, carpenter, steel fixer…), daily rate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attendance at each site by the foreman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sheet: days × rate + overtime − advances, per week or period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Signed pay sheets and receipts sent to finance as proof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payroll with tax and pension, payslips, worker history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72200" y="1783080"/>
            <a:ext cx="5440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84248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04088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Subcontractors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704088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MODULE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1074420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2400" dirty="0"/>
          </a:p>
        </p:txBody>
      </p:sp>
      <p:sp>
        <p:nvSpPr>
          <p:cNvPr id="21" name="Shape 17"/>
          <p:cNvSpPr/>
          <p:nvPr/>
        </p:nvSpPr>
        <p:spPr>
          <a:xfrm>
            <a:off x="617220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4652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Specialist teams: electrical, plumbing, aluminium, gypsum, painting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Agreement: scope of work, price, duration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done measured each period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Payments, advances and retention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rating for future jobs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cost charged to each building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MODULES IN DETAIL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 &amp; letters  +  Owner dashboard, reports &amp; settings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Paperwork in one place, and the full picture for the owner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5440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984248"/>
            <a:ext cx="457200" cy="4572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 &amp; letters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MODULE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12064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Drawings with revision history, so only the latest is used on site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Contracts, permits, licences and insurance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Incoming and outgoing letters with numbering and templates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photos by building and date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by building, type and date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Expiry reminders for licences, insurance and permits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72200" y="1783080"/>
            <a:ext cx="5440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84248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040880" y="19110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dashboard, reports &amp; settings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704088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MODULE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10744200" y="1965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400" dirty="0"/>
          </a:p>
        </p:txBody>
      </p:sp>
      <p:sp>
        <p:nvSpPr>
          <p:cNvPr id="21" name="Shape 17"/>
          <p:cNvSpPr/>
          <p:nvPr/>
        </p:nvSpPr>
        <p:spPr>
          <a:xfrm>
            <a:off x="6172200" y="2651760"/>
            <a:ext cx="5440680" cy="35204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46520" y="2880360"/>
            <a:ext cx="49377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screen: all buildings, cash, prices, stock, workers today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reports, exported to Excel and PDF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Users, roles and permissions per module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rules and amount limits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log: who changed what, and when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settings: sites, stores, units, materials, taxes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REPORTS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 the system produces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at any time, filtered by building, site, period or person, and exported to Excel or PDF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3566160" cy="205740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783080"/>
            <a:ext cx="566928" cy="566928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3364" y="1907804"/>
            <a:ext cx="317480" cy="3174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280160" y="178308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&amp; sites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2514600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per building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 vs actual schedule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site report summary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billing status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297680" y="1783080"/>
            <a:ext cx="3566160" cy="205740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297680" y="178308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2404" y="1907804"/>
            <a:ext cx="317480" cy="31748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029200" y="178308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&amp; purchasing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4526280" y="2514600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price history per material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Purchases per supplier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and profit per customer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and supplier balances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8046720" y="1783080"/>
            <a:ext cx="3566160" cy="205740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046720" y="1783080"/>
            <a:ext cx="566928" cy="566928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1444" y="1907804"/>
            <a:ext cx="317480" cy="31748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778240" y="178308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&amp; machines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8275320" y="2514600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balance per store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used vs planned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Transfers between stores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fuel and repair cost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548640" y="4023360"/>
            <a:ext cx="3566160" cy="205740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548640" y="402336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364" y="4148084"/>
            <a:ext cx="317480" cy="31748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280160" y="40233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" y="4754880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Income and expenses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and profit per building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 and cash position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VAT and withholding reports</a:t>
            </a:r>
            <a:endParaRPr lang="en-US" sz="1250" dirty="0"/>
          </a:p>
        </p:txBody>
      </p:sp>
      <p:sp>
        <p:nvSpPr>
          <p:cNvPr id="29" name="Shape 23"/>
          <p:cNvSpPr/>
          <p:nvPr/>
        </p:nvSpPr>
        <p:spPr>
          <a:xfrm>
            <a:off x="4297680" y="4023360"/>
            <a:ext cx="3566160" cy="205740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4297680" y="4023360"/>
            <a:ext cx="566928" cy="566928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2404" y="4148084"/>
            <a:ext cx="317480" cy="31748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5029200" y="40233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 &amp; workers</a:t>
            </a:r>
            <a:endParaRPr lang="en-US" sz="1500" dirty="0"/>
          </a:p>
        </p:txBody>
      </p:sp>
      <p:sp>
        <p:nvSpPr>
          <p:cNvPr id="33" name="Text 26"/>
          <p:cNvSpPr txBox="1"/>
          <p:nvPr/>
        </p:nvSpPr>
        <p:spPr>
          <a:xfrm>
            <a:off x="4526280" y="4754880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Attendance per site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Daily-worker pay sheets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payroll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list and contracts</a:t>
            </a:r>
            <a:endParaRPr lang="en-US" sz="1250" dirty="0"/>
          </a:p>
        </p:txBody>
      </p:sp>
      <p:sp>
        <p:nvSpPr>
          <p:cNvPr id="34" name="Shape 27"/>
          <p:cNvSpPr/>
          <p:nvPr/>
        </p:nvSpPr>
        <p:spPr>
          <a:xfrm>
            <a:off x="8046720" y="4023360"/>
            <a:ext cx="3566160" cy="205740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8046720" y="402336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1444" y="4148084"/>
            <a:ext cx="317480" cy="317480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8778240" y="40233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8275320" y="4754880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buildings at a glance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vs actual summary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 payments and alerts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waiting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HOW IT CONNECTS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bag of cement, through the whole system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department does its part once, and the rest updates automatically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828800"/>
            <a:ext cx="2560320" cy="17373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828800"/>
            <a:ext cx="548640" cy="54864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98424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256032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needs cement and sends a material request</a:t>
            </a:r>
            <a:endParaRPr lang="en-US" sz="13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63824" y="2560320"/>
            <a:ext cx="164592" cy="27432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3383280" y="1828800"/>
            <a:ext cx="2560320" cy="17373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383280" y="1828800"/>
            <a:ext cx="548640" cy="54864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38328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069080" y="198424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3566160" y="256032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has none, so the request goes to purchasing</a:t>
            </a:r>
            <a:endParaRPr lang="en-US" sz="13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464" y="2560320"/>
            <a:ext cx="164592" cy="274320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6217920" y="1828800"/>
            <a:ext cx="2560320" cy="17373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217920" y="1828800"/>
            <a:ext cx="548640" cy="54864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2179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6903720" y="198424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6400800" y="256032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board shows Merkato is cheapest today</a:t>
            </a:r>
            <a:endParaRPr lang="en-US" sz="130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3104" y="2560320"/>
            <a:ext cx="164592" cy="274320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9052560" y="1828800"/>
            <a:ext cx="2560320" cy="17373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9052560" y="1828800"/>
            <a:ext cx="548640" cy="54864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05256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30" name="Text 25"/>
          <p:cNvSpPr txBox="1"/>
          <p:nvPr/>
        </p:nvSpPr>
        <p:spPr>
          <a:xfrm>
            <a:off x="9738360" y="198424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PURCHASING</a:t>
            </a:r>
            <a:endParaRPr lang="en-US" sz="1100" dirty="0"/>
          </a:p>
        </p:txBody>
      </p:sp>
      <p:sp>
        <p:nvSpPr>
          <p:cNvPr id="31" name="Text 26"/>
          <p:cNvSpPr txBox="1"/>
          <p:nvPr/>
        </p:nvSpPr>
        <p:spPr>
          <a:xfrm>
            <a:off x="9235440" y="256032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and bought from the chosen supplier</a:t>
            </a:r>
            <a:endParaRPr lang="en-US" sz="1300" dirty="0"/>
          </a:p>
        </p:txBody>
      </p:sp>
      <p:sp>
        <p:nvSpPr>
          <p:cNvPr id="32" name="Shape 27"/>
          <p:cNvSpPr/>
          <p:nvPr/>
        </p:nvSpPr>
        <p:spPr>
          <a:xfrm>
            <a:off x="548640" y="3931920"/>
            <a:ext cx="2560320" cy="17373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548640" y="3931920"/>
            <a:ext cx="548640" cy="54864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54864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5" name="Text 30"/>
          <p:cNvSpPr txBox="1"/>
          <p:nvPr/>
        </p:nvSpPr>
        <p:spPr>
          <a:xfrm>
            <a:off x="1234440" y="40873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</a:t>
            </a:r>
            <a:endParaRPr lang="en-US" sz="1100" dirty="0"/>
          </a:p>
        </p:txBody>
      </p:sp>
      <p:sp>
        <p:nvSpPr>
          <p:cNvPr id="36" name="Text 31"/>
          <p:cNvSpPr txBox="1"/>
          <p:nvPr/>
        </p:nvSpPr>
        <p:spPr>
          <a:xfrm>
            <a:off x="731520" y="46634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Goods arrive and are added to the site store</a:t>
            </a:r>
            <a:endParaRPr lang="en-US" sz="1300" dirty="0"/>
          </a:p>
        </p:txBody>
      </p:sp>
      <p:pic>
        <p:nvPicPr>
          <p:cNvPr id="3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3824" y="4663440"/>
            <a:ext cx="164592" cy="274320"/>
          </a:xfrm>
          <a:prstGeom prst="rect">
            <a:avLst/>
          </a:prstGeom>
        </p:spPr>
      </p:pic>
      <p:sp>
        <p:nvSpPr>
          <p:cNvPr id="38" name="Shape 32"/>
          <p:cNvSpPr/>
          <p:nvPr/>
        </p:nvSpPr>
        <p:spPr>
          <a:xfrm>
            <a:off x="3383280" y="3931920"/>
            <a:ext cx="2560320" cy="17373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3383280" y="3931920"/>
            <a:ext cx="548640" cy="54864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338328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41" name="Text 35"/>
          <p:cNvSpPr txBox="1"/>
          <p:nvPr/>
        </p:nvSpPr>
        <p:spPr>
          <a:xfrm>
            <a:off x="4069080" y="40873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</a:t>
            </a:r>
            <a:endParaRPr lang="en-US" sz="1100" dirty="0"/>
          </a:p>
        </p:txBody>
      </p:sp>
      <p:sp>
        <p:nvSpPr>
          <p:cNvPr id="42" name="Text 36"/>
          <p:cNvSpPr txBox="1"/>
          <p:nvPr/>
        </p:nvSpPr>
        <p:spPr>
          <a:xfrm>
            <a:off x="3566160" y="46634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recorded with the receipt attached</a:t>
            </a:r>
            <a:endParaRPr lang="en-US" sz="1300" dirty="0"/>
          </a:p>
        </p:txBody>
      </p:sp>
      <p:pic>
        <p:nvPicPr>
          <p:cNvPr id="4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464" y="4663440"/>
            <a:ext cx="164592" cy="274320"/>
          </a:xfrm>
          <a:prstGeom prst="rect">
            <a:avLst/>
          </a:prstGeom>
        </p:spPr>
      </p:pic>
      <p:sp>
        <p:nvSpPr>
          <p:cNvPr id="44" name="Shape 37"/>
          <p:cNvSpPr/>
          <p:nvPr/>
        </p:nvSpPr>
        <p:spPr>
          <a:xfrm>
            <a:off x="6217920" y="3931920"/>
            <a:ext cx="2560320" cy="17373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45" name="Shape 38"/>
          <p:cNvSpPr/>
          <p:nvPr/>
        </p:nvSpPr>
        <p:spPr>
          <a:xfrm>
            <a:off x="6217920" y="3931920"/>
            <a:ext cx="548640" cy="54864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21792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6903720" y="40873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</a:t>
            </a:r>
            <a:endParaRPr lang="en-US" sz="1100" dirty="0"/>
          </a:p>
        </p:txBody>
      </p:sp>
      <p:sp>
        <p:nvSpPr>
          <p:cNvPr id="48" name="Text 41"/>
          <p:cNvSpPr txBox="1"/>
          <p:nvPr/>
        </p:nvSpPr>
        <p:spPr>
          <a:xfrm>
            <a:off x="6400800" y="46634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Foreman uses it on the 3rd-floor slab: cost goes to that building</a:t>
            </a:r>
            <a:endParaRPr lang="en-US" sz="1300" dirty="0"/>
          </a:p>
        </p:txBody>
      </p:sp>
      <p:pic>
        <p:nvPicPr>
          <p:cNvPr id="4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3104" y="4663440"/>
            <a:ext cx="164592" cy="274320"/>
          </a:xfrm>
          <a:prstGeom prst="rect">
            <a:avLst/>
          </a:prstGeom>
        </p:spPr>
      </p:pic>
      <p:sp>
        <p:nvSpPr>
          <p:cNvPr id="50" name="Shape 42"/>
          <p:cNvSpPr/>
          <p:nvPr/>
        </p:nvSpPr>
        <p:spPr>
          <a:xfrm>
            <a:off x="9052560" y="3931920"/>
            <a:ext cx="2560320" cy="173736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51" name="Shape 43"/>
          <p:cNvSpPr/>
          <p:nvPr/>
        </p:nvSpPr>
        <p:spPr>
          <a:xfrm>
            <a:off x="9052560" y="3931920"/>
            <a:ext cx="548640" cy="54864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52" name="Text 44"/>
          <p:cNvSpPr txBox="1"/>
          <p:nvPr/>
        </p:nvSpPr>
        <p:spPr>
          <a:xfrm>
            <a:off x="905256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800" dirty="0"/>
          </a:p>
        </p:txBody>
      </p:sp>
      <p:sp>
        <p:nvSpPr>
          <p:cNvPr id="53" name="Text 45"/>
          <p:cNvSpPr txBox="1"/>
          <p:nvPr/>
        </p:nvSpPr>
        <p:spPr>
          <a:xfrm>
            <a:off x="9738360" y="40873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</a:t>
            </a:r>
            <a:endParaRPr lang="en-US" sz="1100" dirty="0"/>
          </a:p>
        </p:txBody>
      </p:sp>
      <p:sp>
        <p:nvSpPr>
          <p:cNvPr id="54" name="Text 46"/>
          <p:cNvSpPr txBox="1"/>
          <p:nvPr/>
        </p:nvSpPr>
        <p:spPr>
          <a:xfrm>
            <a:off x="9235440" y="46634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Dashboard: 3rd floor done, cost 4% over plan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VIEW 3 — WHO USES THE SYSTEM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person sees only their part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 and permissions can be adjusted at any time by the administrator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210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2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they do in the system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22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Sees everything on the dashboard, approves large payments and purchases, sees profit per building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manager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Plans projects, approves site requests, follows progress and cost, prepares client bills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Site engineer / foreman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Daily report, attendance, material requests, material used, photos (own site only)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Sales &amp; purchasing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Updates market prices, buys materials, sells materials to customers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Storekeeper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Receives and issues materials, transfers, stock counts (own store only)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Accountant / cashier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Records every payment and receipt, petty cash, bank, tax reports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2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HR officer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Hires staff, registers daily workers, prepares pay sheets and payroll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38100" marB="38100" anchor="ctr">
                    <a:lnL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· VIEW 4 — DAILY, WEEKLY, MONTHLY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rhythm of the business in the system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and when, so nothing depends on memory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2651760" cy="44348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201168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964" y="2136404"/>
            <a:ext cx="317480" cy="3174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77240" y="2743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day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200400"/>
            <a:ext cx="22860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Attendance at each site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site reports and photos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in, out and used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market prices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 with receipts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summary updated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360420" y="1783080"/>
            <a:ext cx="2651760" cy="44348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89020" y="201168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3744" y="2136404"/>
            <a:ext cx="317480" cy="31748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589020" y="2743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week</a:t>
            </a:r>
            <a:endParaRPr lang="en-US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3589020" y="3200400"/>
            <a:ext cx="22860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Daily-worker pay sheets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Low-stock list per store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changes summary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progress summary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Petty cash top-up per site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6172200" y="1783080"/>
            <a:ext cx="2651760" cy="44348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400800" y="2011680"/>
            <a:ext cx="566928" cy="566928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524" y="2136404"/>
            <a:ext cx="317480" cy="31748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400800" y="2743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month</a:t>
            </a:r>
            <a:endParaRPr lang="en-US" sz="1700" dirty="0"/>
          </a:p>
        </p:txBody>
      </p:sp>
      <p:sp>
        <p:nvSpPr>
          <p:cNvPr id="23" name="Text 18"/>
          <p:cNvSpPr txBox="1"/>
          <p:nvPr/>
        </p:nvSpPr>
        <p:spPr>
          <a:xfrm>
            <a:off x="6400800" y="3200400"/>
            <a:ext cx="22860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payroll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bills for work done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vs plan per building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 reconciliation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VAT and tax reports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8983980" y="1783080"/>
            <a:ext cx="2651760" cy="443484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212580" y="2011680"/>
            <a:ext cx="566928" cy="566928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304" y="2136404"/>
            <a:ext cx="317480" cy="31748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212580" y="2743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Alerts, anytime</a:t>
            </a:r>
            <a:endParaRPr lang="en-US" sz="1700" dirty="0"/>
          </a:p>
        </p:txBody>
      </p:sp>
      <p:sp>
        <p:nvSpPr>
          <p:cNvPr id="28" name="Text 22"/>
          <p:cNvSpPr txBox="1"/>
          <p:nvPr/>
        </p:nvSpPr>
        <p:spPr>
          <a:xfrm>
            <a:off x="9212580" y="3200400"/>
            <a:ext cx="22860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receipt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Guarantee or licence about to expire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payment overdue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behind schedule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over budget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· TECHNOLOGY &amp; SECURITY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be simple, safe and reliable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modern web system that works in any browser, on any computer, in the office or at the site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874520"/>
            <a:ext cx="685800" cy="68580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2025396"/>
            <a:ext cx="384048" cy="38404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189280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+ installable app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24028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in any browser on computer, laptop, tablet or phone, and installs like an app (PWA)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297680" y="1874520"/>
            <a:ext cx="685800" cy="68580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8556" y="2025396"/>
            <a:ext cx="384048" cy="38404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166360" y="189280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Hosting &amp; domain included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5166360" y="224028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provide the server and domain; reachable from the office and every site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8046720" y="1874520"/>
            <a:ext cx="685800" cy="68580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7596" y="2025396"/>
            <a:ext cx="384048" cy="38404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915400" y="189280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sign-in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915400" y="224028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accounts, strong passwords, permissions per role and per site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548640" y="3794760"/>
            <a:ext cx="685800" cy="68580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" y="3945636"/>
            <a:ext cx="384048" cy="38404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381304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log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1417320" y="416052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change records who did it and when; deleted records can be traced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4297680" y="3794760"/>
            <a:ext cx="685800" cy="68580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8556" y="3945636"/>
            <a:ext cx="384048" cy="38404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166360" y="381304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backups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5166360" y="416052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 daily backups, so data can be restored if anything goes wrong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8046720" y="3794760"/>
            <a:ext cx="685800" cy="68580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7596" y="3945636"/>
            <a:ext cx="384048" cy="38404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915400" y="381304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 &amp; PDF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8915400" y="4160520"/>
            <a:ext cx="2697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starting data from Excel; export any list or report to Excel or PDF</a:t>
            </a:r>
            <a:endParaRPr lang="en-US" sz="1250" dirty="0"/>
          </a:p>
        </p:txBody>
      </p:sp>
      <p:sp>
        <p:nvSpPr>
          <p:cNvPr id="33" name="Text 25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Technology: React web application (installable PWA) · Node.js server · MySQL database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· TIMELINE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in about 1.5 months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weeks from the start date, delivered in clear steps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566160" y="1920240"/>
            <a:ext cx="1295400" cy="3657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6160" y="1920240"/>
            <a:ext cx="1295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907280" y="1920240"/>
            <a:ext cx="1295400" cy="3657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07280" y="1920240"/>
            <a:ext cx="1295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48400" y="1920240"/>
            <a:ext cx="1295400" cy="3657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48400" y="1920240"/>
            <a:ext cx="1295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589520" y="1920240"/>
            <a:ext cx="1295400" cy="3657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89520" y="1920240"/>
            <a:ext cx="1295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930640" y="1920240"/>
            <a:ext cx="1295400" cy="3657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930640" y="1920240"/>
            <a:ext cx="1295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5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271760" y="1920240"/>
            <a:ext cx="1295400" cy="36576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271760" y="1920240"/>
            <a:ext cx="1295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24688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requirements &amp; design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272491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Walk-through of every module with your team; screen designs approved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566160" y="2542032"/>
            <a:ext cx="1295400" cy="4114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0540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Build: foundation &amp; core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3101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Settings, users, projects &amp; contracts, site management, stock, purchasing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907280" y="3127248"/>
            <a:ext cx="2636520" cy="4114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6393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Build: money &amp; people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389534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&amp; prices, finance, client billing, HR &amp; daily workers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248400" y="3712464"/>
            <a:ext cx="3307080" cy="4114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42245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Build: support &amp; dashboard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4805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Machines, subcontractors, documents, reports, owner dashboard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260080" y="4297680"/>
            <a:ext cx="1965960" cy="4114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" y="480974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with your data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06577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team tests with real data; we correct what is needed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9601200" y="4882896"/>
            <a:ext cx="1295400" cy="4114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" y="5394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&amp; go-live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565099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per role, starting data loaded, system live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10942320" y="5468112"/>
            <a:ext cx="624840" cy="4114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1520" y="598932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timeline starts after the advance payment and assumes quick feedback and a named contact person on your side.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· INVESTMENT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price for the complete system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12 modules, web system, delivered in about 1.5 months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4754880" cy="443484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057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PRICE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237744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ETB 450,000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2004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Construction Management System: 12 modules, web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8680" y="3977640"/>
            <a:ext cx="822960" cy="82296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39776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874520" y="40233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 payment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contract signing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40233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ETB 135,000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68680" y="5001768"/>
            <a:ext cx="822960" cy="82296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68680" y="500176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874520" y="5047488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payment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delivery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3383280" y="5047488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ETB 315,000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0" y="178308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Included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0" y="2194560"/>
            <a:ext cx="5852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12 modules in this proposal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Hosting and domain, fully set up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Loading starting data from Excel (materials, workers, suppliers, opening stock)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for every role, plus a user guide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data belongs to you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0" y="4526280"/>
            <a:ext cx="5943600" cy="169164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897880" y="464515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included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897880" y="4983480"/>
            <a:ext cx="5577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SMS fees, if SMS alerts are used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Computers, printers and internet connection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features added after the scope is signed (quoted separately)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Yearly support and maintenance (optional)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9768"/>
            <a:ext cx="146304" cy="14630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04672" y="38404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· QUESTIONS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2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Questions, and what you would like to add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6187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answers complete the scope; anything missing from this proposal can be added now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64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Management System  ·  Proposal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solidFill>
            <a:srgbClr val="1E2226"/>
          </a:solidFill>
          <a:ln w="12700">
            <a:solidFill>
              <a:srgbClr val="1E2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365992" y="6419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5440680" cy="86868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783080"/>
            <a:ext cx="868680" cy="8686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17830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18928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2112264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many sites run at the same time, and how many stores?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72200" y="1783080"/>
            <a:ext cx="5440680" cy="86868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783080"/>
            <a:ext cx="868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72200" y="17830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223760" y="18928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0" y="2112264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Roughly how many permanent staff and daily workers?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2807208"/>
            <a:ext cx="5440680" cy="86868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2807208"/>
            <a:ext cx="868680" cy="8686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2807208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291693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600200" y="3136392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markets besides Merkato should the price board cover?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172200" y="2807208"/>
            <a:ext cx="5440680" cy="86868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72200" y="2807208"/>
            <a:ext cx="868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172200" y="2807208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223760" y="291693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7223760" y="3136392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purchases or payments need the owner's approval, and above what amount?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3831336"/>
            <a:ext cx="5440680" cy="86868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3831336"/>
            <a:ext cx="868680" cy="8686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3831336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1600200" y="3941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CONTRACTS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600200" y="416052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you work on government projects with tenders and guarantees?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172200" y="3831336"/>
            <a:ext cx="5440680" cy="86868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72200" y="3831336"/>
            <a:ext cx="868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72200" y="3831336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7223760" y="3941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7223760" y="416052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you use accounting software today (e.g. Peachtree)?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548640" y="4855464"/>
            <a:ext cx="5440680" cy="86868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48640" y="4855464"/>
            <a:ext cx="868680" cy="86868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8640" y="4855464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1600200" y="496519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1600200" y="5184648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English only, or Amharic as well?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6172200" y="4855464"/>
            <a:ext cx="5440680" cy="868680"/>
          </a:xfrm>
          <a:prstGeom prst="rect">
            <a:avLst/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172200" y="4855464"/>
            <a:ext cx="868680" cy="86868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172200" y="4855464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Q8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7223760" y="496519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F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7223760" y="5184648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27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many people will use the system?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548640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additions:  anything your team does today that is not in these 12 modules?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68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344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this proposal to a working system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731520" cy="73152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606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520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together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through every module in a meeting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520440" y="2606040"/>
            <a:ext cx="731520" cy="73152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20440" y="2606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3520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what is missing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team's additions go into the final scope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09360" y="2606040"/>
            <a:ext cx="731520" cy="73152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2606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3520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&amp; advance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 signed, 30% advance paid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098280" y="2606040"/>
            <a:ext cx="731520" cy="731520"/>
          </a:xfrm>
          <a:prstGeom prst="rect">
            <a:avLst/>
          </a:prstGeom>
          <a:solidFill>
            <a:srgbClr val="34495E"/>
          </a:solidFill>
          <a:ln w="12700">
            <a:solidFill>
              <a:srgbClr val="34495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98280" y="2606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098280" y="3520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&amp; go live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098280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E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1.5 months to a working system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53949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you. We look forward to building this with you.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Abakas Tech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Construction Management System Proposal</dc:title>
  <dc:subject>PptxGenJS Presentation</dc:subject>
  <dc:creator>PptxGenJS</dc:creator>
  <cp:lastModifiedBy>PptxGenJS</cp:lastModifiedBy>
  <cp:revision>1</cp:revision>
  <dcterms:created xsi:type="dcterms:W3CDTF">2026-09-28T10:45:15Z</dcterms:created>
  <dcterms:modified xsi:type="dcterms:W3CDTF">2026-09-28T10:45:15Z</dcterms:modified>
</cp:coreProperties>
</file>