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complete system proposal for a construction company. Anything the client needs beyond this can be added to the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general picture of how building contractors work. The system is built around these five core departments.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which of these hurt most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stages left to right. Stages 4 to 6 repeat every day and every month until the building is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12 modules share one database: a purchase updates stock and finance, attendance becomes the pay sheet, and every cost is charged to a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Site / project management and Projects &amp; contracts.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Sales &amp; market prices and Purchasing.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Stock management and Machines &amp; vehicles.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Finance and Client billing.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HR &amp; daily workers and Subcontractors.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Documents &amp; letters and Owner dashboard, reports &amp; settings.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Additional reports can be added during the requirements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message: data is entered once by the person closest to it, then reused everywhere. No re-typing and no lost receipts.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can one person hold two roles (for example, storekeeper and purchaser)? Which amounts need the owner's approval?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Alerts can be shown in the system and sent by email; SMS can be added if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 unless the owner asks technical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weeks is achievable because modules are built in parallel on one shared foundation. Quick answers from the client's side are essential.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valid for 60 days. Confirm VAT treatment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 answers directly during the meeting. Additions are reviewed against the scope and timeline before 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Agree a date for the review meeting and a contact person on the client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784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9640" y="338328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784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502920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PROPOSAL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16002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web system for projects and sites, market prices and sales, finance, HR and daily workers, and stock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Abakas Tech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UNDERSTANDING CONSTRUCTION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construction company works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building contractor manages every day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944014"/>
            <a:ext cx="409651" cy="4096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18013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projects for clients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building sites running at the same time, each with its own budget and team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2862072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4" y="3023006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8803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and selling materials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463040" y="3209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prices in Merkato and other markets decide where to buy; materials are also sold to customers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3941064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4101998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959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moving every day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288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for materials, workers, machines and site costs at every site, all needing proper records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5180990"/>
            <a:ext cx="409651" cy="4096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63040" y="50383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and daily workers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63040" y="5367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daily labourers on site, paid based on their attendance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675120" y="1783080"/>
            <a:ext cx="4937760" cy="4343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99516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departments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498080" y="25146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29900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 (market prices, buying &amp; selling)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98080" y="3941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management</a:t>
            </a:r>
            <a:endParaRPr lang="en-US" sz="1350" dirty="0"/>
          </a:p>
        </p:txBody>
      </p:sp>
      <p:sp>
        <p:nvSpPr>
          <p:cNvPr id="39" name="Shape 33"/>
          <p:cNvSpPr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7498080" y="44165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995160" y="498348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aim: </a:t>
            </a:r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whole company in one system, with nothing left on paper. On top of these core departments, we add the supporting modules every construction company needs.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WE UNDERSTOOD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will fix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problems in construction companies, and what changes with one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are collected by phone and memory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price board: every material, every market, every day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 get lost; tax filing is stressful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is saved with its receipt photo; tax reports are ready to print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cost per building until the end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cost and profit for each building, updated every 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goes missing between store and site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bag and bar is tracked in, out and between stores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 pay is calculated by hand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becomes the pay sheet automatically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must call each site to know the status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dashboard shows all sites, cash, stock and alerts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VIEW 1 — THE LIFE OF A BUILDING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enquiry to final handover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building passes through the same 9 stages, and the system follows each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 or tender, cost estimate, quotation, won or lost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9222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9222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Price, duration, advance, retention, delay penalty, guarantees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3580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4553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14553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plan, work plan by floor, materials, workers and machines needed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9392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&amp; stock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prices, buy from the best supplier, receive, send to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522976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3270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32704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522976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reports, attendance, materials used, machines, subcontractors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7628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7628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paid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done, bill the client, approval, payment received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1014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1987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11987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1014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the client asks for: price, approval, added to the contract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25372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634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36345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25372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list, fix, hand over, retention and guarantees released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497312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607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60704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49731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cost vs contract price, profit or loss, lessons learned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4805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INVOLVED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800600"/>
            <a:ext cx="3639312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80060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&amp; project manager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79392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352544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stock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22976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96128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Site, HR &amp; stock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66560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39712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010144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83296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owner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253728" y="4800600"/>
            <a:ext cx="2395728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326880" y="48006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stages happen every day on every site; this is where most of the data is entered.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VIEW 2 — DEPARTMENTS &amp; MODULES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connected modules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core departments, plus 7 supporting modules so nothing is left outside the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209068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46888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164" y="209068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5780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2044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2648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936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084" y="209068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4672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1540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9828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004" y="20906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3564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909828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48640" y="31546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44" y="34622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6888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333756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52044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5164" y="34622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25780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352044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612648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30936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084" y="3462284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630936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44" name="Shape 35"/>
          <p:cNvSpPr/>
          <p:nvPr/>
        </p:nvSpPr>
        <p:spPr>
          <a:xfrm>
            <a:off x="891540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909828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3004" y="3462284"/>
            <a:ext cx="317480" cy="3174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1083564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909828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54864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73152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244" y="4833884"/>
            <a:ext cx="317480" cy="31748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46888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53" name="Text 42"/>
          <p:cNvSpPr txBox="1"/>
          <p:nvPr/>
        </p:nvSpPr>
        <p:spPr>
          <a:xfrm>
            <a:off x="73152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250" dirty="0"/>
          </a:p>
        </p:txBody>
      </p:sp>
      <p:sp>
        <p:nvSpPr>
          <p:cNvPr id="54" name="Shape 43"/>
          <p:cNvSpPr/>
          <p:nvPr/>
        </p:nvSpPr>
        <p:spPr>
          <a:xfrm>
            <a:off x="333756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52044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5164" y="4833884"/>
            <a:ext cx="317480" cy="317480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525780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8" name="Text 46"/>
          <p:cNvSpPr txBox="1"/>
          <p:nvPr/>
        </p:nvSpPr>
        <p:spPr>
          <a:xfrm>
            <a:off x="352044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250" dirty="0"/>
          </a:p>
        </p:txBody>
      </p:sp>
      <p:sp>
        <p:nvSpPr>
          <p:cNvPr id="59" name="Shape 47"/>
          <p:cNvSpPr/>
          <p:nvPr/>
        </p:nvSpPr>
        <p:spPr>
          <a:xfrm>
            <a:off x="612648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630936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4084" y="4833884"/>
            <a:ext cx="317480" cy="317480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804672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63" name="Text 50"/>
          <p:cNvSpPr txBox="1"/>
          <p:nvPr/>
        </p:nvSpPr>
        <p:spPr>
          <a:xfrm>
            <a:off x="630936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250" dirty="0"/>
          </a:p>
        </p:txBody>
      </p:sp>
      <p:sp>
        <p:nvSpPr>
          <p:cNvPr id="64" name="Shape 51"/>
          <p:cNvSpPr/>
          <p:nvPr/>
        </p:nvSpPr>
        <p:spPr>
          <a:xfrm>
            <a:off x="891540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5" name="Shape 52"/>
          <p:cNvSpPr/>
          <p:nvPr/>
        </p:nvSpPr>
        <p:spPr>
          <a:xfrm>
            <a:off x="909828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3004" y="4833884"/>
            <a:ext cx="317480" cy="317480"/>
          </a:xfrm>
          <a:prstGeom prst="rect">
            <a:avLst/>
          </a:prstGeom>
        </p:spPr>
      </p:pic>
      <p:sp>
        <p:nvSpPr>
          <p:cNvPr id="67" name="Text 53"/>
          <p:cNvSpPr txBox="1"/>
          <p:nvPr/>
        </p:nvSpPr>
        <p:spPr>
          <a:xfrm>
            <a:off x="1083564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68" name="Text 54"/>
          <p:cNvSpPr txBox="1"/>
          <p:nvPr/>
        </p:nvSpPr>
        <p:spPr>
          <a:xfrm>
            <a:off x="909828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250" dirty="0"/>
          </a:p>
        </p:txBody>
      </p:sp>
      <p:sp>
        <p:nvSpPr>
          <p:cNvPr id="69" name="Shape 55"/>
          <p:cNvSpPr/>
          <p:nvPr/>
        </p:nvSpPr>
        <p:spPr>
          <a:xfrm>
            <a:off x="548640" y="5989320"/>
            <a:ext cx="182880" cy="1828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70" name="Text 56"/>
          <p:cNvSpPr txBox="1"/>
          <p:nvPr/>
        </p:nvSpPr>
        <p:spPr>
          <a:xfrm>
            <a:off x="82296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departments</a:t>
            </a:r>
            <a:endParaRPr lang="en-US" sz="1150" dirty="0"/>
          </a:p>
        </p:txBody>
      </p:sp>
      <p:sp>
        <p:nvSpPr>
          <p:cNvPr id="71" name="Shape 57"/>
          <p:cNvSpPr/>
          <p:nvPr/>
        </p:nvSpPr>
        <p:spPr>
          <a:xfrm>
            <a:off x="3383280" y="5989320"/>
            <a:ext cx="182880" cy="1828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72" name="Text 58"/>
          <p:cNvSpPr txBox="1"/>
          <p:nvPr/>
        </p:nvSpPr>
        <p:spPr>
          <a:xfrm>
            <a:off x="365760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  +  Projects &amp; contracts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 runs each building; contracts set the rules for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file for each building: client, location, floors, contract price,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plan: every material and job with quantity and price (the budget)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plan by stage and floor, planned vs actual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report: workers, work done, materials used, problems, photos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requests from site → approval → stock or purchase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%, quality checks, safety incidents, defects list and handover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register and contact history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 and tenders: estimate → price → submit → won or lost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details: price, duration, advance, retention, delay penalty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guarantees (advance, performance) with expiry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requested by the client: price → approval → contract updated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contracts and attachments kept with the project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  +  Purchasing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sales team knows the prices, so purchasing always buys at the best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board: every material × market (Merkato and others) ×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market today, price history charts, price-rise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list with brand and unit (quintal, ton, piece, m³)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materials to customers: quotation → sale →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and credit sales, customer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per sale: buying price vs selling price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requests from a site or the store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2–3 supplier prices, taken from the price board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by amount (for example, the owner approves large purchases)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 → goods received → receipt sent to finance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register, supplier payments and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history for every material and supplier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  +  Machines &amp; vehicles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material and machine is tracked, and its cost goes to a building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store plus one store at each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in from purchases, checked against the order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out to a building or job, or to a sales customer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Transfers: main store ↔ site, site ↔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balance per store, low-stock alerts, stock count vs system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 for each building (shows waste early)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owned and rented machines and vehicles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site each machine is on, and when it moved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issued and consumption per machine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schedule, repairs and their cost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agreements, hours worked, rent 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 +  Client billing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money in and out, with receipts, and client bills that are never forgotten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in or out saved with its receipt (photo or scan)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for any payment without a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petty cash: given, spent, receipts, balance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accounts, transfers, reconciliation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owe suppliers, what clients and customers owe us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building; VAT, withholding and income/expense reports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 in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request (bill) to the client for that work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repayment and retention deducted automatically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submitted → approved by client's engineer → paid or overdue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billed separately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released after handover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  +  Subcontractors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 works on site, whether employed, daily or subcontracted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staff: contract, salary, leave, documents, assigned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workers: ID, photo, phone, skill (mason, carpenter, steel fixer…), daily rate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attendance at each site by the foreman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sheet: days × rate + overtime − advances, per week or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pay sheets and receipts sent to finance as proof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 with tax and pension, payslips, worker history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teams: electrical, plumbing, aluminium, gypsum, painting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Agreement: scope of work, price, duration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done measured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advances and retention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rating for future jobs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  +  Owner dashboard, reports &amp; settings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Paperwork in one place, and the full picture for the owner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with revision history, so only the latest is used on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Contracts, permits, licences and insurance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and outgoing letters with numbering and templates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photos by building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building, type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reminders for licences, insurance and permits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screen: all buildings, cash, prices, stock, workers today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reports, exported to Excel and PDF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roles and permissions per module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rules and amount limits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log: who changed what, and when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settings: sites, stores, units, materials, taxes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REPORTS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the system produces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at any time, filtered by building, site, period or person, and exported to Excel or PDF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19078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8016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sites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schedule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 status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9768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404" y="19078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2628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price history per material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Purchases per supplier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and profit per customer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and supplier balances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4672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444" y="19078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77824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&amp; machines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balance per store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between stores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fuel and repair cost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41480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and expenses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position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withholding reports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429768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297680" y="40233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2404" y="41480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02920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workers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52628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per site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list and contracts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04672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04672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444" y="41480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buildings at a glance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vs actual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payments and alerts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waiting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IT CONNECTS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bag of cement, through the whole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does its part once, and the rest updates automatically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needs cement and sends a material request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2560320"/>
            <a:ext cx="164592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38328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has none, so the request goes to purchasing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2560320"/>
            <a:ext cx="164592" cy="2743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21792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 shows Merkato is cheapest today</a:t>
            </a:r>
            <a:endParaRPr lang="en-US" sz="13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60320"/>
            <a:ext cx="164592" cy="27432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5256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73836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923544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and bought from the chosen supplier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4864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23444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3152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 arrive and are added to the site store</a:t>
            </a:r>
            <a:endParaRPr lang="en-US" sz="13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4663440"/>
            <a:ext cx="164592" cy="274320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338328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06908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356616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recorded with the receipt attached</a:t>
            </a:r>
            <a:endParaRPr lang="en-US" sz="13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4663440"/>
            <a:ext cx="164592" cy="27432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621792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690372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640080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Foreman uses it on the 3rd-floor slab: cost goes to that building</a:t>
            </a:r>
            <a:endParaRPr lang="en-US" sz="1300" dirty="0"/>
          </a:p>
        </p:txBody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4" y="4663440"/>
            <a:ext cx="164592" cy="274320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05256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3" name="Text 45"/>
          <p:cNvSpPr txBox="1"/>
          <p:nvPr/>
        </p:nvSpPr>
        <p:spPr>
          <a:xfrm>
            <a:off x="973836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923544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3rd floor done, cost 4% over plan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VIEW 3 — WHO USES THE SYSTEM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sees only their part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permissions can be adjusted at any time by the administrator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do in the system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Sees everything on the dashboard, approves large payments and purchases, sees profit per building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manager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Plans projects, approves site requests, follows progress and cost, prepares client bills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engineer / foreman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report, attendance, material requests, material used, photos (own site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purchasing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market prices, buys materials, sells materials to customers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Storekeeper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Receives and issues materials, transfers, stock counts (own store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Accountant / cashier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Records every payment and receipt, petty cash, bank, tax reports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Hires staff, registers daily workers, prepares pay sheets and payroll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VIEW 4 — DAILY, WEEKLY, MONTHLY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rhythm of the business in the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when, so nothing depends on memory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21364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at each site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reports and photos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in, out and used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market prices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with receipts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summary updated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6042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8902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744" y="21364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890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58902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Low-stock list per store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changes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progress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Petty cash top-up per site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7220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524" y="21364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month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payroll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bills for work done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vs plan per building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reconciliation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tax reports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83980" y="1783080"/>
            <a:ext cx="265176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12580" y="20116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304" y="213640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1258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Alerts, anytime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1258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receipt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or licence about to expire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payment overdue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behind schedule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over budget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TECHNOLOGY &amp; SECURITY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simple, safe and reliable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web system that works in any browser, on any computer, in the office or at the site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025396"/>
            <a:ext cx="384048" cy="3840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installable app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browser on computer, laptop, tablet or phone, and installs like an app (PWA)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20253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&amp; domain included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provide the server and domain; reachable from the office and every site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sign-in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91540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accounts, strong passwords, permissions per role and per site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945636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records who did it and when; deleted records can be traced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945636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636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backups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16636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daily backups, so data can be restored if anything goes wrong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945636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1540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&amp; PDF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91540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starting data from Excel; export any list or report to Excel or PDF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React web application (installable PWA) · Node.js server · MySQL database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TIMELINE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in about 2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 from the start date, delivered in clear steps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7784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8952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59536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07040" y="1920240"/>
            <a:ext cx="96012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07040" y="19202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requirements &amp; design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7249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Walk-through of every module with your team; screen designs approved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542032"/>
            <a:ext cx="146304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054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foundation &amp; core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Settings, users, projects &amp; contracts, site management, stock, purchasing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74920" y="3127248"/>
            <a:ext cx="24688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639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money &amp; people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895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prices, finance, client billing, HR &amp; daily workers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3712464"/>
            <a:ext cx="24688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224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support &amp; dashboard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Machines, subcontractors, documents, reports, owner dashboard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092440" y="4297680"/>
            <a:ext cx="196596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809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with your data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0657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tests with real data; we correct what is needed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601200" y="4882896"/>
            <a:ext cx="146304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5394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go-live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50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per role, starting data loaded, system live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1109960" y="5468112"/>
            <a:ext cx="45720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starts after the advance payment and assumes quick feedback and a named contact person on your side.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INVESTMENT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price for the complete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modules, web system, delivered in about 2 months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475488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PRICE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377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450,000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Construction Management System: 12 modules, web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023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contract signing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4023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135,000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04748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delivery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50474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315,000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219456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 in this proposal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domain, fully set up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starting data from Excel (materials, workers, suppliers, opening stock)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for every role, plus a user guide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belongs to you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0" y="4526280"/>
            <a:ext cx="5943600" cy="16916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9788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98348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fees, if SMS alerts are used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Computers, printers and internet connection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features added after the scope is signed (quoted separately)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support and maintenance (optional)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QUESTIONS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what you would like to add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 complete the scope; anything missing from this proposal can be added now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sites run at the same time, and how many stores?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how many permanent staff and daily workers?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markets besides Merkato should the price board cover?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purchases or payments need the owner's approval, and above what amount?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work on government projects with tenders and guarantees?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22376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22376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use accounting software today (e.g. Peachtree)?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only, or Amharic as well?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17220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722376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22376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people will use the system?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additions:  anything your team does today that is not in these 12 modules?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this proposal to a working system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together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through every module in a meeting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what is missing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additions go into the final scope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&amp; advance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signed, 30% advance paid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go live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2 months to a working system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94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 look forward to building this with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Construction Management System Proposal</dc:title>
  <dc:subject>PptxGenJS Presentation</dc:subject>
  <dc:creator>PptxGenJS</dc:creator>
  <cp:lastModifiedBy>PptxGenJS</cp:lastModifiedBy>
  <cp:revision>1</cp:revision>
  <dcterms:created xsi:type="dcterms:W3CDTF">2026-09-29T04:17:48Z</dcterms:created>
  <dcterms:modified xsi:type="dcterms:W3CDTF">2026-09-29T04:17:48Z</dcterms:modified>
</cp:coreProperties>
</file>