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complete system proposal for a construction company. Anything the client needs beyond this can be added to the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general picture of how building contractors work. The system is built around these five core departments.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which of these hurt most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stages left to right. Stages 4 to 6 repeat every day and every month until the building is finished.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12 modules share one database: a purchase updates stock and finance, attendance becomes the pay sheet, and every cost is charged to a 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Site / project management and Projects &amp; contracts.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Sales &amp; market prices and Purchasing.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Stock management and Machines &amp; vehicles.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Finance and Client billing.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HR &amp; daily workers and Subcontractors.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Documents &amp; letters and Owner dashboard, reports &amp; settings.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Additional reports can be added during the requirements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message: data is entered once by the person closest to it, then reused everywhere. No re-typing and no lost receipts.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can one person hold two roles (for example, storekeeper and purchaser)? Which amounts need the owner's approval?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Alerts can be shown in the system and sent by email; SMS can be added if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short unless the owner asks technical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weeks is achievable because modules are built in parallel on one shared foundation. Quick answers from the client's side are essential.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valid for 60 days. Confirm VAT treatment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Capture answers directly during the meeting. Additions are reviewed against the scope and timeline before 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Agree a date for the review meeting and a contact person on the client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0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496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640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784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49640" y="3383280"/>
            <a:ext cx="713232" cy="713232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64040" y="338328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78440" y="338328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496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40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784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50292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64040" y="5029200"/>
            <a:ext cx="713232" cy="713232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78440" y="50292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PROPOSAL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160020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</a:t>
            </a:r>
            <a:endParaRPr lang="en-US" sz="4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0632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web system for projects and sites, market prices and sales, finance, HR and daily workers, and stock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434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ABAKAS DIGITAL SOLUTIONS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UNDERSTANDING CONSTRUCTION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construction company works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building contractor manages every day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944014"/>
            <a:ext cx="409651" cy="40965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18013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projects for clients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130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building sites running at the same time, each with its own budget and team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2862072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74" y="3023006"/>
            <a:ext cx="409651" cy="409651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28803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and selling materials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463040" y="32095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prices in Merkato and other markets decide where to buy; materials are also sold to customers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3941064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4" y="4101998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9593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moving every day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463040" y="42885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for materials, workers, machines and site costs at every site, all needing proper records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020056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5180990"/>
            <a:ext cx="409651" cy="40965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63040" y="503834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and daily workers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463040" y="5367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daily labourers on site, paid based on their attendance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675120" y="1783080"/>
            <a:ext cx="4937760" cy="4343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99516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departments</a:t>
            </a:r>
            <a:endParaRPr lang="en-US" sz="1700" dirty="0"/>
          </a:p>
        </p:txBody>
      </p:sp>
      <p:sp>
        <p:nvSpPr>
          <p:cNvPr id="27" name="Shape 21"/>
          <p:cNvSpPr/>
          <p:nvPr/>
        </p:nvSpPr>
        <p:spPr>
          <a:xfrm>
            <a:off x="6995160" y="2514600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99516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498080" y="25146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management</a:t>
            </a:r>
            <a:endParaRPr lang="en-US" sz="1350" dirty="0"/>
          </a:p>
        </p:txBody>
      </p:sp>
      <p:sp>
        <p:nvSpPr>
          <p:cNvPr id="30" name="Shape 24"/>
          <p:cNvSpPr/>
          <p:nvPr/>
        </p:nvSpPr>
        <p:spPr>
          <a:xfrm>
            <a:off x="6995160" y="2990088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99516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7498080" y="299008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purchasing (market prices, buying &amp; selling)</a:t>
            </a:r>
            <a:endParaRPr lang="en-US" sz="1350" dirty="0"/>
          </a:p>
        </p:txBody>
      </p:sp>
      <p:sp>
        <p:nvSpPr>
          <p:cNvPr id="33" name="Shape 27"/>
          <p:cNvSpPr/>
          <p:nvPr/>
        </p:nvSpPr>
        <p:spPr>
          <a:xfrm>
            <a:off x="6995160" y="3465576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99516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7498080" y="34655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350" dirty="0"/>
          </a:p>
        </p:txBody>
      </p:sp>
      <p:sp>
        <p:nvSpPr>
          <p:cNvPr id="36" name="Shape 30"/>
          <p:cNvSpPr/>
          <p:nvPr/>
        </p:nvSpPr>
        <p:spPr>
          <a:xfrm>
            <a:off x="6995160" y="3941064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99516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498080" y="394106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management</a:t>
            </a:r>
            <a:endParaRPr lang="en-US" sz="1350" dirty="0"/>
          </a:p>
        </p:txBody>
      </p:sp>
      <p:sp>
        <p:nvSpPr>
          <p:cNvPr id="39" name="Shape 33"/>
          <p:cNvSpPr/>
          <p:nvPr/>
        </p:nvSpPr>
        <p:spPr>
          <a:xfrm>
            <a:off x="6995160" y="4416552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6995160" y="4416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7498080" y="441655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995160" y="4983480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aim: </a:t>
            </a:r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whole company in one system, with nothing left on paper. On top of these core departments, we add the supporting modules every construction company needs.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WHAT WE UNDERSTOOD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system will fix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problems in construction companies, and what changes with one system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1938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1305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are collected by phone and memory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780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670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price board: every material, every market, every day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178308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938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1305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Receipts get lost; tax filing is stressful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4780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670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payment is saved with its receipt photo; tax reports are ready to print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4015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5935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clear cost per building until the end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9410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1330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actual cost and profit for each building, updated every day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324612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4015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5935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goes missing between store and site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9410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41330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bag and bar is tracked in, out and between stores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48646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5056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worker pay is calculated by hand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4041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5596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becomes the pay sheet automatically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172200" y="470916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46520" y="48646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6446520" y="5056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must call each site to know the status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54041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446520" y="5596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dashboard shows all sites, cash, stock and alerts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VIEW 1 — THE LIFE OF A BUILDING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first enquiry to final handover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building passes through the same 9 stages, and the system follows each one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project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Enquiry or tender, cost estimate, quotation, won or lost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792224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019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01952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92224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Price, duration, advance, retention, delay penalty, guarantees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35808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4553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145536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035808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plan, work plan by floor, materials, workers and machines needed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79392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8912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&amp; stock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279392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prices, buy from the best supplier, receive, send to site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522976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3270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32704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522976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reports, attendance, materials used, machines, subcontractors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66560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7628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76288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paid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work done, bill the client, approval, payment received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10144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1987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119872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010144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the client asks for: price, approval, added to the contract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253728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634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363456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9253728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Defects list, fix, hand over, retention and guarantees released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0497312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607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607040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497312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cost vs contract price, profit or loss, lessons learned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4805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INVOLVED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48640" y="4800600"/>
            <a:ext cx="3639312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800600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&amp; project manager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279392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352544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stock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522976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596128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Site, HR &amp; stock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766560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39712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finance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010144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083296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owner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9253728" y="4800600"/>
            <a:ext cx="2395728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326880" y="480060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finance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stages happen every day on every site; this is where most of the data is entered.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VIEW 2 — DEPARTMENTS &amp; MODULES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connected modules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core departments, plus 7 supporting modules so nothing is left outside the system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244" y="209068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46888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3756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044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5164" y="209068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5780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52044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12648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0936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084" y="209068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4672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30936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891540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9828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3004" y="209068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3564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909828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548640" y="31546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31520" y="33375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244" y="3462284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246888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73152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333756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52044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5164" y="3462284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25780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352044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contracts</a:t>
            </a:r>
            <a:endParaRPr lang="en-US" sz="1250" dirty="0"/>
          </a:p>
        </p:txBody>
      </p:sp>
      <p:sp>
        <p:nvSpPr>
          <p:cNvPr id="39" name="Shape 31"/>
          <p:cNvSpPr/>
          <p:nvPr/>
        </p:nvSpPr>
        <p:spPr>
          <a:xfrm>
            <a:off x="612648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30936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4084" y="3462284"/>
            <a:ext cx="317480" cy="31748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804672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630936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250" dirty="0"/>
          </a:p>
        </p:txBody>
      </p:sp>
      <p:sp>
        <p:nvSpPr>
          <p:cNvPr id="44" name="Shape 35"/>
          <p:cNvSpPr/>
          <p:nvPr/>
        </p:nvSpPr>
        <p:spPr>
          <a:xfrm>
            <a:off x="891540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909828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3004" y="3462284"/>
            <a:ext cx="317480" cy="31748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1083564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8" name="Text 38"/>
          <p:cNvSpPr txBox="1"/>
          <p:nvPr/>
        </p:nvSpPr>
        <p:spPr>
          <a:xfrm>
            <a:off x="909828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</a:t>
            </a:r>
            <a:endParaRPr lang="en-US" sz="1250" dirty="0"/>
          </a:p>
        </p:txBody>
      </p:sp>
      <p:sp>
        <p:nvSpPr>
          <p:cNvPr id="49" name="Shape 39"/>
          <p:cNvSpPr/>
          <p:nvPr/>
        </p:nvSpPr>
        <p:spPr>
          <a:xfrm>
            <a:off x="54864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0" name="Shape 40"/>
          <p:cNvSpPr/>
          <p:nvPr/>
        </p:nvSpPr>
        <p:spPr>
          <a:xfrm>
            <a:off x="73152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5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6244" y="4833884"/>
            <a:ext cx="317480" cy="317480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246888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53" name="Text 42"/>
          <p:cNvSpPr txBox="1"/>
          <p:nvPr/>
        </p:nvSpPr>
        <p:spPr>
          <a:xfrm>
            <a:off x="73152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Subcontractors</a:t>
            </a:r>
            <a:endParaRPr lang="en-US" sz="1250" dirty="0"/>
          </a:p>
        </p:txBody>
      </p:sp>
      <p:sp>
        <p:nvSpPr>
          <p:cNvPr id="54" name="Shape 43"/>
          <p:cNvSpPr/>
          <p:nvPr/>
        </p:nvSpPr>
        <p:spPr>
          <a:xfrm>
            <a:off x="333756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352044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5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5164" y="4833884"/>
            <a:ext cx="317480" cy="317480"/>
          </a:xfrm>
          <a:prstGeom prst="rect">
            <a:avLst/>
          </a:prstGeom>
        </p:spPr>
      </p:pic>
      <p:sp>
        <p:nvSpPr>
          <p:cNvPr id="57" name="Text 45"/>
          <p:cNvSpPr txBox="1"/>
          <p:nvPr/>
        </p:nvSpPr>
        <p:spPr>
          <a:xfrm>
            <a:off x="525780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58" name="Text 46"/>
          <p:cNvSpPr txBox="1"/>
          <p:nvPr/>
        </p:nvSpPr>
        <p:spPr>
          <a:xfrm>
            <a:off x="352044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&amp; vehicles</a:t>
            </a:r>
            <a:endParaRPr lang="en-US" sz="1250" dirty="0"/>
          </a:p>
        </p:txBody>
      </p:sp>
      <p:sp>
        <p:nvSpPr>
          <p:cNvPr id="59" name="Shape 47"/>
          <p:cNvSpPr/>
          <p:nvPr/>
        </p:nvSpPr>
        <p:spPr>
          <a:xfrm>
            <a:off x="612648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60" name="Shape 48"/>
          <p:cNvSpPr/>
          <p:nvPr/>
        </p:nvSpPr>
        <p:spPr>
          <a:xfrm>
            <a:off x="630936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6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4084" y="4833884"/>
            <a:ext cx="317480" cy="317480"/>
          </a:xfrm>
          <a:prstGeom prst="rect">
            <a:avLst/>
          </a:prstGeom>
        </p:spPr>
      </p:pic>
      <p:sp>
        <p:nvSpPr>
          <p:cNvPr id="62" name="Text 49"/>
          <p:cNvSpPr txBox="1"/>
          <p:nvPr/>
        </p:nvSpPr>
        <p:spPr>
          <a:xfrm>
            <a:off x="804672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63" name="Text 50"/>
          <p:cNvSpPr txBox="1"/>
          <p:nvPr/>
        </p:nvSpPr>
        <p:spPr>
          <a:xfrm>
            <a:off x="630936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</a:t>
            </a:r>
            <a:endParaRPr lang="en-US" sz="1250" dirty="0"/>
          </a:p>
        </p:txBody>
      </p:sp>
      <p:sp>
        <p:nvSpPr>
          <p:cNvPr id="64" name="Shape 51"/>
          <p:cNvSpPr/>
          <p:nvPr/>
        </p:nvSpPr>
        <p:spPr>
          <a:xfrm>
            <a:off x="891540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65" name="Shape 52"/>
          <p:cNvSpPr/>
          <p:nvPr/>
        </p:nvSpPr>
        <p:spPr>
          <a:xfrm>
            <a:off x="909828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6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23004" y="4833884"/>
            <a:ext cx="317480" cy="317480"/>
          </a:xfrm>
          <a:prstGeom prst="rect">
            <a:avLst/>
          </a:prstGeom>
        </p:spPr>
      </p:pic>
      <p:sp>
        <p:nvSpPr>
          <p:cNvPr id="67" name="Text 53"/>
          <p:cNvSpPr txBox="1"/>
          <p:nvPr/>
        </p:nvSpPr>
        <p:spPr>
          <a:xfrm>
            <a:off x="1083564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68" name="Text 54"/>
          <p:cNvSpPr txBox="1"/>
          <p:nvPr/>
        </p:nvSpPr>
        <p:spPr>
          <a:xfrm>
            <a:off x="909828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dashboard, reports &amp; settings</a:t>
            </a:r>
            <a:endParaRPr lang="en-US" sz="1250" dirty="0"/>
          </a:p>
        </p:txBody>
      </p:sp>
      <p:sp>
        <p:nvSpPr>
          <p:cNvPr id="69" name="Shape 55"/>
          <p:cNvSpPr/>
          <p:nvPr/>
        </p:nvSpPr>
        <p:spPr>
          <a:xfrm>
            <a:off x="548640" y="5989320"/>
            <a:ext cx="182880" cy="1828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70" name="Text 56"/>
          <p:cNvSpPr txBox="1"/>
          <p:nvPr/>
        </p:nvSpPr>
        <p:spPr>
          <a:xfrm>
            <a:off x="82296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departments</a:t>
            </a:r>
            <a:endParaRPr lang="en-US" sz="1150" dirty="0"/>
          </a:p>
        </p:txBody>
      </p:sp>
      <p:sp>
        <p:nvSpPr>
          <p:cNvPr id="71" name="Shape 57"/>
          <p:cNvSpPr/>
          <p:nvPr/>
        </p:nvSpPr>
        <p:spPr>
          <a:xfrm>
            <a:off x="3383280" y="5989320"/>
            <a:ext cx="182880" cy="1828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72" name="Text 58"/>
          <p:cNvSpPr txBox="1"/>
          <p:nvPr/>
        </p:nvSpPr>
        <p:spPr>
          <a:xfrm>
            <a:off x="365760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  +  Projects &amp; contracts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management runs each building; contracts set the rules for it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file for each building: client, location, floors, contract price, dates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plan: every material and job with quantity and price (the budget)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plan by stage and floor, planned vs actual dates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report: workers, work done, materials used, problems, photos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requests from site → approval → stock or purchase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%, quality checks, safety incidents, defects list and handover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contracts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register and contact history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Quotations and tenders: estimate → price → submit → won or lost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details: price, duration, advance, retention, delay penalty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guarantees (advance, performance) with expiry alerts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requested by the client: price → approval → contract updated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contracts and attachments kept with the project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  +  Purchasing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sales team knows the prices, so purchasing always buys at the best one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board: every material × market (Merkato and others) ×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Cheapest market today, price history charts, price-rise alerts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list with brand and unit (quintal, ton, piece, m³)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Selling materials to customers: quotation → sale → receipt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and credit sales, customer balances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per sale: buying price vs selling price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requests from a site or the store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2–3 supplier prices, taken from the price board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by amount (for example, the owner approves large purchases)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order → goods received → receipt sent to finance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register, supplier payments and balances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history for every material and supplier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  +  Machines &amp; vehicles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material and machine is tracked, and its cost goes to a building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store plus one store at each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in from purchases, checked against the order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out to a building or job, or to a sales customer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Transfers: main store ↔ site, site ↔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balance per store, low-stock alerts, stock count vs system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used vs planned for each building (shows waste early)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&amp; vehicles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of owned and rented machines and vehicles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site each machine is on, and when it moved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issued and consumption per machine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schedule, repairs and their cost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Rental agreements, hours worked, rent due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cost charged to each building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 +  Client billing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money in and out, with receipts, and client bills that are never forgotten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payment in or out saved with its receipt (photo or scan)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for any payment without a receipt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petty cash: given, spent, receipts, balance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and cash accounts, transfers, reconciliation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owe suppliers, what clients and customers owe us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profit per building; VAT, withholding and income/expense reports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work done in each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request (bill) to the client for that work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 repayment and retention deducted automatically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submitted → approved by client's engineer → paid or overdue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billed separately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released after handover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  +  Subcontractors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who works on site, whether employed, daily or subcontracted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staff: contract, salary, leave, documents, assigned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workers: ID, photo, phone, skill (mason, carpenter, steel fixer…), daily rate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attendance at each site by the foreman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sheet: days × rate + overtime − advances, per week or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pay sheets and receipts sent to finance as proof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payroll with tax and pension, payslips, worker history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 teams: electrical, plumbing, aluminium, gypsum, painting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Agreement: scope of work, price, duration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done measured each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Payments, advances and retention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rating for future jobs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cost charged to each building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  +  Owner dashboard, reports &amp; settings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Paperwork in one place, and the full picture for the owner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with revision history, so only the latest is used on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Contracts, permits, licences and insurance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Incoming and outgoing letters with numbering and templates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photos by building and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building, type and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Expiry reminders for licences, insurance and permits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dashboard, reports &amp; settings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screen: all buildings, cash, prices, stock, workers today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reports, exported to Excel and PDF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Users, roles and permissions per module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rules and amount limits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log: who changed what, and when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settings: sites, stores, units, materials, taxes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REPORTS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the system produces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at any time, filtered by building, site, period or person, and exported to Excel or PDF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78308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190780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8016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sites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per building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actual schedule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 summary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 status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297680" y="178308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7680" y="17830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2404" y="190780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02920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purchasing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52628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price history per material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Purchases per supplier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and profit per customer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and supplier balances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046720" y="178308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046720" y="178308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1444" y="190780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77824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&amp; machines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27532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balance per store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used vs planned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 between stores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fuel and repair cost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548640" y="402336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48640" y="40233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414808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80160" y="4023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" y="47548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and expenses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profit per building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and cash position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VAT and withholding reports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4297680" y="402336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297680" y="40233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2404" y="4148084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029200" y="4023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workers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4526280" y="47548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per site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Daily-worker pay sheets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payroll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list and contracts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8046720" y="402336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8046720" y="40233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1444" y="4148084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4023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8275320" y="47548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buildings at a glance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vs actual summary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payments and alerts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waiting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HOW IT CONNECTS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bag of cement, through the whole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department does its part once, and the rest updates automatically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needs cement and sends a material request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3824" y="2560320"/>
            <a:ext cx="164592" cy="27432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38328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38328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832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has none, so the request goes to purchasing</a:t>
            </a:r>
            <a:endParaRPr lang="en-US" sz="13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2560320"/>
            <a:ext cx="164592" cy="2743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621792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179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90372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board shows Merkato is cheapest today</a:t>
            </a:r>
            <a:endParaRPr lang="en-US" sz="13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560320"/>
            <a:ext cx="164592" cy="27432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05256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05256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0525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973836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923544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and bought from the chosen supplier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54864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23444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3152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Goods arrive and are added to the site store</a:t>
            </a:r>
            <a:endParaRPr lang="en-US" sz="1300" dirty="0"/>
          </a:p>
        </p:txBody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4663440"/>
            <a:ext cx="164592" cy="274320"/>
          </a:xfrm>
          <a:prstGeom prst="rect">
            <a:avLst/>
          </a:prstGeom>
        </p:spPr>
      </p:pic>
      <p:sp>
        <p:nvSpPr>
          <p:cNvPr id="38" name="Shape 32"/>
          <p:cNvSpPr/>
          <p:nvPr/>
        </p:nvSpPr>
        <p:spPr>
          <a:xfrm>
            <a:off x="338328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338328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33832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406908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356616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recorded with the receipt attached</a:t>
            </a:r>
            <a:endParaRPr lang="en-US" sz="1300" dirty="0"/>
          </a:p>
        </p:txBody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4" y="4663440"/>
            <a:ext cx="164592" cy="274320"/>
          </a:xfrm>
          <a:prstGeom prst="rect">
            <a:avLst/>
          </a:prstGeom>
        </p:spPr>
      </p:pic>
      <p:sp>
        <p:nvSpPr>
          <p:cNvPr id="44" name="Shape 37"/>
          <p:cNvSpPr/>
          <p:nvPr/>
        </p:nvSpPr>
        <p:spPr>
          <a:xfrm>
            <a:off x="621792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621792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21792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690372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640080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Foreman uses it on the 3rd-floor slab: cost goes to that building</a:t>
            </a:r>
            <a:endParaRPr lang="en-US" sz="1300" dirty="0"/>
          </a:p>
        </p:txBody>
      </p:sp>
      <p:pic>
        <p:nvPicPr>
          <p:cNvPr id="4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3104" y="4663440"/>
            <a:ext cx="164592" cy="274320"/>
          </a:xfrm>
          <a:prstGeom prst="rect">
            <a:avLst/>
          </a:prstGeom>
        </p:spPr>
      </p:pic>
      <p:sp>
        <p:nvSpPr>
          <p:cNvPr id="50" name="Shape 42"/>
          <p:cNvSpPr/>
          <p:nvPr/>
        </p:nvSpPr>
        <p:spPr>
          <a:xfrm>
            <a:off x="905256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9052560" y="3931920"/>
            <a:ext cx="548640" cy="54864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90525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53" name="Text 45"/>
          <p:cNvSpPr txBox="1"/>
          <p:nvPr/>
        </p:nvSpPr>
        <p:spPr>
          <a:xfrm>
            <a:off x="973836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100" dirty="0"/>
          </a:p>
        </p:txBody>
      </p:sp>
      <p:sp>
        <p:nvSpPr>
          <p:cNvPr id="54" name="Text 46"/>
          <p:cNvSpPr txBox="1"/>
          <p:nvPr/>
        </p:nvSpPr>
        <p:spPr>
          <a:xfrm>
            <a:off x="923544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3rd floor done, cost 4% over plan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VIEW 3 — WHO USES THE SYSTEM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person sees only their part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and permissions can be adjusted at any time by the administrator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do in the system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2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Sees everything on the dashboard, approves large payments and purchases, sees profit per building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manager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Plans projects, approves site requests, follows progress and cost, prepares client bills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Site engineer / foreman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report, attendance, material requests, material used, photos (own site only)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&amp; purchasing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market prices, buys materials, sells materials to customers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Storekeeper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Receives and issues materials, transfers, stock counts (own store only)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Accountant / cashier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Records every payment and receipt, petty cash, bank, tax reports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 officer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Hires staff, registers daily workers, prepares pay sheets and payroll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VIEW 4 — DAILY, WEEKLY, MONTHLY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rhythm of the business in the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when, so nothing depends on memory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213640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724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day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at each site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reports and photos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in, out and used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market prices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with receipts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summary updated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6042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8902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744" y="213640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8902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week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358902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Daily-worker pay sheets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Low-stock list per store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changes summary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progress summary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Petty cash top-up per site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17220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0080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524" y="213640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0080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month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40080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payroll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bills for work done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vs plan per building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reconciliation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VAT and tax reports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8983980" y="1783080"/>
            <a:ext cx="2651760" cy="44348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212580" y="201168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304" y="213640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1258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Alerts, anytime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921258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receipt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 or licence about to expire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payment overdue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behind schedule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over budget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TECHNOLOGY &amp; SECURITY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simple, safe and reliable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modern web system that works in any browser, on any computer, in the office or at the site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025396"/>
            <a:ext cx="384048" cy="3840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installable app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any browser on computer, laptop, tablet or phone, and installs like an app (PWA)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187452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20253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6636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&amp; domain included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16636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provide the server and domain; reachable from the office and every site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46720" y="187452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202539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1540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sign-in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91540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accounts, strong passwords, permissions per role and per site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379476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3945636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41732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change records who did it and when; deleted records can be traced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3945636"/>
            <a:ext cx="384048" cy="3840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6636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backups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516636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daily backups, so data can be restored if anything goes wrong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046720" y="379476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596" y="3945636"/>
            <a:ext cx="384048" cy="3840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91540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&amp; PDF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91540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starting data from Excel; export any list or report to Excel or PDF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Technology: React web application (installable PWA) · Node.js server · MySQL database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TIMELINE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in about 2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weeks from the start date, delivered in clear steps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6616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7784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8368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8952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59536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7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0704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0704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8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requirements &amp; design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27249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Walk-through of every module with your team; screen designs approved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542032"/>
            <a:ext cx="1463040" cy="4114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054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foundation &amp; core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Settings, users, projects &amp; contracts, site management, stock, purchasing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74920" y="3127248"/>
            <a:ext cx="246888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6393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money &amp; people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89534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prices, finance, client billing, HR &amp; daily workers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3712464"/>
            <a:ext cx="246888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4224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support &amp; dashboard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480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Machines, subcontractors, documents, reports, owner dashboard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092440" y="4297680"/>
            <a:ext cx="196596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8097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with your data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06577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 tests with real data; we correct what is needed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601200" y="4882896"/>
            <a:ext cx="146304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5394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go-live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650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per role, starting data loaded, system live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1109960" y="5468112"/>
            <a:ext cx="457200" cy="4114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3152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timeline starts after the advance payment and assumes quick feedback and a named contact person on your side.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INVESTMENT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price for the complete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modules, web system, delivered in about 2 months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4754880" cy="44348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PRICE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3774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450,000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200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Construction Management System: 12 modules, web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3977640"/>
            <a:ext cx="822960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77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023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 payment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contract signing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40233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135,000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5001768"/>
            <a:ext cx="822960" cy="82296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0017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504748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payment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delivery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50474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315,000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0" y="17830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219456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modules in this proposal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and domain, fully set up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starting data from Excel (materials, workers, suppliers, opening stock)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for every role, plus a user guide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 belongs to you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0" y="4526280"/>
            <a:ext cx="5943600" cy="16916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97880" y="4645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498348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fees, if SMS alerts are used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Computers, printers and internet connection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features added after the scope is signed (quoted separately)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support and maintenance (optional)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QUESTIONS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Questions, and what you would like to add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answers complete the scope; anything missing from this proposal can be added now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783080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892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11226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sites run at the same time, and how many stores?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783080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1892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211226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Roughly how many permanent staff and daily workers?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2807208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807208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80720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29169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313639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markets besides Merkato should the price board cover?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2807208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2807208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72200" y="280720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29169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313639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purchases or payments need the owner's approval, and above what amount?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831336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831336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831336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3941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600200" y="416052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work on government projects with tenders and guarantees?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72200" y="3831336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72200" y="3831336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72200" y="3831336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223760" y="3941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223760" y="416052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use accounting software today (e.g. Peachtree)?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4855464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4855464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8554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600200" y="49651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600200" y="518464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only, or Amharic as well?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172200" y="4855464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72200" y="4855464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172200" y="48554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7223760" y="49651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223760" y="518464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people will use the system?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additions:  anything your team does today that is not in these 12 modules?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this proposal to a working system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together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through every module in a meeting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2044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what is missing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team's additions go into the final scope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&amp; advance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signed, 30% advance paid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9828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828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09828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go live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2 months to a working system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3949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We look forward to building this with you.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ABAKAS DIGITAL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Construction Management System Proposal</dc:title>
  <dc:subject>PptxGenJS Presentation</dc:subject>
  <dc:creator>PptxGenJS</dc:creator>
  <cp:lastModifiedBy>PptxGenJS</cp:lastModifiedBy>
  <cp:revision>1</cp:revision>
  <dcterms:created xsi:type="dcterms:W3CDTF">2026-10-07T10:44:16Z</dcterms:created>
  <dcterms:modified xsi:type="dcterms:W3CDTF">2026-10-07T10:44:16Z</dcterms:modified>
</cp:coreProperties>
</file>